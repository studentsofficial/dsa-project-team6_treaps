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Fira Sans" panose="020B0503050000020004" pitchFamily="34" charset="0"/>
      <p:regular r:id="rId17"/>
    </p:embeddedFont>
    <p:embeddedFont>
      <p:font typeface="Inconsolata Bold" pitchFamily="1" charset="0"/>
      <p:bold r:id="rId18"/>
    </p:embeddedFont>
    <p:embeddedFont>
      <p:font typeface="Inconsolata Light" pitchFamily="1"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3692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svg"/><Relationship Id="rId10" Type="http://schemas.openxmlformats.org/officeDocument/2006/relationships/image" Target="../media/image15.png"/><Relationship Id="rId4" Type="http://schemas.openxmlformats.org/officeDocument/2006/relationships/image" Target="../media/image17.png"/><Relationship Id="rId9" Type="http://schemas.openxmlformats.org/officeDocument/2006/relationships/image" Target="../media/image22.sv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slides/_rels/slide7.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35.sv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svg"/><Relationship Id="rId12"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45.png"/><Relationship Id="rId11" Type="http://schemas.openxmlformats.org/officeDocument/2006/relationships/image" Target="../media/image50.sv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svg"/><Relationship Id="rId9" Type="http://schemas.openxmlformats.org/officeDocument/2006/relationships/image" Target="../media/image48.svg"/></Relationships>
</file>

<file path=ppt/slides/_rels/slide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835110"/>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StockProX: Efficient Order Matching System using Treaps</a:t>
            </a:r>
            <a:endParaRPr lang="en-US" sz="3900" dirty="0"/>
          </a:p>
        </p:txBody>
      </p:sp>
      <p:sp>
        <p:nvSpPr>
          <p:cNvPr id="4" name="Text 1"/>
          <p:cNvSpPr/>
          <p:nvPr/>
        </p:nvSpPr>
        <p:spPr>
          <a:xfrm>
            <a:off x="793790" y="3372922"/>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SUBMITTED BY:</a:t>
            </a:r>
            <a:endParaRPr lang="en-US" sz="1550" dirty="0"/>
          </a:p>
        </p:txBody>
      </p:sp>
      <p:sp>
        <p:nvSpPr>
          <p:cNvPr id="5" name="Text 2"/>
          <p:cNvSpPr/>
          <p:nvPr/>
        </p:nvSpPr>
        <p:spPr>
          <a:xfrm>
            <a:off x="793790" y="3913703"/>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YASHWANTHI B.K (CB.SC.U4CYS24161)</a:t>
            </a:r>
            <a:endParaRPr lang="en-US" sz="1550" dirty="0"/>
          </a:p>
        </p:txBody>
      </p:sp>
      <p:sp>
        <p:nvSpPr>
          <p:cNvPr id="6" name="Text 3"/>
          <p:cNvSpPr/>
          <p:nvPr/>
        </p:nvSpPr>
        <p:spPr>
          <a:xfrm>
            <a:off x="793790" y="4454485"/>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BHAVADARINI M (CB.SC.U4CYS24111)</a:t>
            </a:r>
            <a:endParaRPr lang="en-US" sz="1550" dirty="0"/>
          </a:p>
        </p:txBody>
      </p:sp>
      <p:sp>
        <p:nvSpPr>
          <p:cNvPr id="7" name="Text 4"/>
          <p:cNvSpPr/>
          <p:nvPr/>
        </p:nvSpPr>
        <p:spPr>
          <a:xfrm>
            <a:off x="793790" y="4995267"/>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A RIDHUSREE(CB.SC.U4CYS24101)</a:t>
            </a:r>
            <a:endParaRPr lang="en-US" sz="1550" dirty="0"/>
          </a:p>
        </p:txBody>
      </p:sp>
      <p:sp>
        <p:nvSpPr>
          <p:cNvPr id="8" name="Text 5"/>
          <p:cNvSpPr/>
          <p:nvPr/>
        </p:nvSpPr>
        <p:spPr>
          <a:xfrm>
            <a:off x="793790" y="5536049"/>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NIRANJANA GIRISH(CB.SC.U4CYS24134)</a:t>
            </a:r>
            <a:endParaRPr lang="en-US" sz="1550" dirty="0"/>
          </a:p>
        </p:txBody>
      </p:sp>
      <p:sp>
        <p:nvSpPr>
          <p:cNvPr id="9" name="Text 6"/>
          <p:cNvSpPr/>
          <p:nvPr/>
        </p:nvSpPr>
        <p:spPr>
          <a:xfrm>
            <a:off x="793790" y="6076831"/>
            <a:ext cx="75564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YASWIN ILLAKIYA R (CB.SC.U4CYS24162)</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8426" y="606385"/>
            <a:ext cx="4615577" cy="576977"/>
          </a:xfrm>
          <a:prstGeom prst="rect">
            <a:avLst/>
          </a:prstGeom>
          <a:noFill/>
          <a:ln/>
        </p:spPr>
        <p:txBody>
          <a:bodyPr wrap="none" lIns="0" tIns="0" rIns="0" bIns="0" rtlCol="0" anchor="t"/>
          <a:lstStyle/>
          <a:p>
            <a:pPr marL="0" indent="0" algn="l">
              <a:lnSpc>
                <a:spcPts val="4500"/>
              </a:lnSpc>
              <a:buNone/>
            </a:pPr>
            <a:r>
              <a:rPr lang="en-US" sz="3600" b="1" dirty="0">
                <a:solidFill>
                  <a:srgbClr val="F94CAF"/>
                </a:solidFill>
                <a:latin typeface="Inconsolata Bold" pitchFamily="34" charset="0"/>
                <a:ea typeface="Inconsolata Bold" pitchFamily="34" charset="-122"/>
                <a:cs typeface="Inconsolata Bold" pitchFamily="34" charset="-120"/>
              </a:rPr>
              <a:t>Problem Statement</a:t>
            </a:r>
            <a:endParaRPr lang="en-US" sz="3600" dirty="0"/>
          </a:p>
        </p:txBody>
      </p:sp>
      <p:sp>
        <p:nvSpPr>
          <p:cNvPr id="3" name="Text 1"/>
          <p:cNvSpPr/>
          <p:nvPr/>
        </p:nvSpPr>
        <p:spPr>
          <a:xfrm>
            <a:off x="738426" y="1526738"/>
            <a:ext cx="13153549" cy="855464"/>
          </a:xfrm>
          <a:prstGeom prst="rect">
            <a:avLst/>
          </a:prstGeom>
          <a:noFill/>
          <a:ln/>
        </p:spPr>
        <p:txBody>
          <a:bodyPr wrap="square" lIns="0" tIns="0" rIns="0" bIns="0" rtlCol="0" anchor="t"/>
          <a:lstStyle/>
          <a:p>
            <a:pPr marL="0" indent="0" algn="l">
              <a:lnSpc>
                <a:spcPts val="2200"/>
              </a:lnSpc>
              <a:buNone/>
            </a:pPr>
            <a:r>
              <a:rPr lang="en-US" sz="1450" dirty="0">
                <a:solidFill>
                  <a:srgbClr val="DAD1E6"/>
                </a:solidFill>
                <a:latin typeface="Fira Sans" pitchFamily="34" charset="0"/>
                <a:ea typeface="Fira Sans" pitchFamily="34" charset="-122"/>
                <a:cs typeface="Fira Sans" pitchFamily="34" charset="-120"/>
              </a:rPr>
              <a:t>Modern financial markets face an extraordinary challenge: processing millions of transactional requests in real-time while maintaining fairness, accuracy, and performance. The core problem requires building an efficient system to manage and process a large number of transactional requests in a dynamic marketplace.</a:t>
            </a:r>
            <a:endParaRPr lang="en-US" sz="1450" dirty="0"/>
          </a:p>
        </p:txBody>
      </p:sp>
      <p:sp>
        <p:nvSpPr>
          <p:cNvPr id="4" name="Shape 2"/>
          <p:cNvSpPr/>
          <p:nvPr/>
        </p:nvSpPr>
        <p:spPr>
          <a:xfrm>
            <a:off x="738426" y="2575322"/>
            <a:ext cx="6490930" cy="2056328"/>
          </a:xfrm>
          <a:prstGeom prst="roundRect">
            <a:avLst>
              <a:gd name="adj" fmla="val 1347"/>
            </a:avLst>
          </a:prstGeom>
          <a:solidFill>
            <a:srgbClr val="433550"/>
          </a:solidFill>
          <a:ln/>
        </p:spPr>
      </p:sp>
      <p:pic>
        <p:nvPicPr>
          <p:cNvPr id="5" name="Image 0" descr="preencoded.png"/>
          <p:cNvPicPr>
            <a:picLocks noChangeAspect="1"/>
          </p:cNvPicPr>
          <p:nvPr/>
        </p:nvPicPr>
        <p:blipFill>
          <a:blip r:embed="rId3"/>
          <a:stretch>
            <a:fillRect/>
          </a:stretch>
        </p:blipFill>
        <p:spPr>
          <a:xfrm>
            <a:off x="922972" y="2759869"/>
            <a:ext cx="553879" cy="553879"/>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5253" y="2912150"/>
            <a:ext cx="249198" cy="249198"/>
          </a:xfrm>
          <a:prstGeom prst="rect">
            <a:avLst/>
          </a:prstGeom>
        </p:spPr>
      </p:pic>
      <p:sp>
        <p:nvSpPr>
          <p:cNvPr id="7" name="Text 3"/>
          <p:cNvSpPr/>
          <p:nvPr/>
        </p:nvSpPr>
        <p:spPr>
          <a:xfrm>
            <a:off x="922972" y="3485436"/>
            <a:ext cx="2882860" cy="288369"/>
          </a:xfrm>
          <a:prstGeom prst="rect">
            <a:avLst/>
          </a:prstGeom>
          <a:noFill/>
          <a:ln/>
        </p:spPr>
        <p:txBody>
          <a:bodyPr wrap="none" lIns="0" tIns="0" rIns="0" bIns="0" rtlCol="0" anchor="t"/>
          <a:lstStyle/>
          <a:p>
            <a:pPr marL="0" indent="0" algn="l">
              <a:lnSpc>
                <a:spcPts val="2250"/>
              </a:lnSpc>
              <a:buNone/>
            </a:pPr>
            <a:r>
              <a:rPr lang="en-US" sz="1800" b="1" dirty="0">
                <a:solidFill>
                  <a:srgbClr val="DAD1E6"/>
                </a:solidFill>
                <a:latin typeface="Inconsolata Bold" pitchFamily="34" charset="0"/>
                <a:ea typeface="Inconsolata Bold" pitchFamily="34" charset="-122"/>
                <a:cs typeface="Inconsolata Bold" pitchFamily="34" charset="-120"/>
              </a:rPr>
              <a:t>Hierarchical Organization</a:t>
            </a:r>
            <a:endParaRPr lang="en-US" sz="1800" dirty="0"/>
          </a:p>
        </p:txBody>
      </p:sp>
      <p:sp>
        <p:nvSpPr>
          <p:cNvPr id="8" name="Text 4"/>
          <p:cNvSpPr/>
          <p:nvPr/>
        </p:nvSpPr>
        <p:spPr>
          <a:xfrm>
            <a:off x="922972" y="3876794"/>
            <a:ext cx="6121837" cy="570309"/>
          </a:xfrm>
          <a:prstGeom prst="rect">
            <a:avLst/>
          </a:prstGeom>
          <a:noFill/>
          <a:ln/>
        </p:spPr>
        <p:txBody>
          <a:bodyPr wrap="square" lIns="0" tIns="0" rIns="0" bIns="0" rtlCol="0" anchor="t"/>
          <a:lstStyle/>
          <a:p>
            <a:pPr marL="0" indent="0" algn="l">
              <a:lnSpc>
                <a:spcPts val="2200"/>
              </a:lnSpc>
              <a:buNone/>
            </a:pPr>
            <a:r>
              <a:rPr lang="en-US" sz="1450" dirty="0">
                <a:solidFill>
                  <a:srgbClr val="DAD1E6"/>
                </a:solidFill>
                <a:latin typeface="Fira Sans" pitchFamily="34" charset="0"/>
                <a:ea typeface="Fira Sans" pitchFamily="34" charset="-122"/>
                <a:cs typeface="Fira Sans" pitchFamily="34" charset="-120"/>
              </a:rPr>
              <a:t>Organize buy and sell orders in a structured, searchable manner based on price levels</a:t>
            </a:r>
            <a:endParaRPr lang="en-US" sz="1450" dirty="0"/>
          </a:p>
        </p:txBody>
      </p:sp>
      <p:sp>
        <p:nvSpPr>
          <p:cNvPr id="9" name="Shape 5"/>
          <p:cNvSpPr/>
          <p:nvPr/>
        </p:nvSpPr>
        <p:spPr>
          <a:xfrm>
            <a:off x="7401044" y="2575322"/>
            <a:ext cx="6490930" cy="2056328"/>
          </a:xfrm>
          <a:prstGeom prst="roundRect">
            <a:avLst>
              <a:gd name="adj" fmla="val 1347"/>
            </a:avLst>
          </a:prstGeom>
          <a:solidFill>
            <a:srgbClr val="433550"/>
          </a:solidFill>
          <a:ln/>
        </p:spPr>
      </p:sp>
      <p:pic>
        <p:nvPicPr>
          <p:cNvPr id="10" name="Image 2" descr="preencoded.png"/>
          <p:cNvPicPr>
            <a:picLocks noChangeAspect="1"/>
          </p:cNvPicPr>
          <p:nvPr/>
        </p:nvPicPr>
        <p:blipFill>
          <a:blip r:embed="rId6"/>
          <a:stretch>
            <a:fillRect/>
          </a:stretch>
        </p:blipFill>
        <p:spPr>
          <a:xfrm>
            <a:off x="7585591" y="2759869"/>
            <a:ext cx="553879" cy="553879"/>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37872" y="2912150"/>
            <a:ext cx="249198" cy="249198"/>
          </a:xfrm>
          <a:prstGeom prst="rect">
            <a:avLst/>
          </a:prstGeom>
        </p:spPr>
      </p:pic>
      <p:sp>
        <p:nvSpPr>
          <p:cNvPr id="12" name="Text 6"/>
          <p:cNvSpPr/>
          <p:nvPr/>
        </p:nvSpPr>
        <p:spPr>
          <a:xfrm>
            <a:off x="7585591" y="3485436"/>
            <a:ext cx="2307788" cy="288369"/>
          </a:xfrm>
          <a:prstGeom prst="rect">
            <a:avLst/>
          </a:prstGeom>
          <a:noFill/>
          <a:ln/>
        </p:spPr>
        <p:txBody>
          <a:bodyPr wrap="none" lIns="0" tIns="0" rIns="0" bIns="0" rtlCol="0" anchor="t"/>
          <a:lstStyle/>
          <a:p>
            <a:pPr marL="0" indent="0" algn="l">
              <a:lnSpc>
                <a:spcPts val="2250"/>
              </a:lnSpc>
              <a:buNone/>
            </a:pPr>
            <a:r>
              <a:rPr lang="en-US" sz="1800" b="1" dirty="0">
                <a:solidFill>
                  <a:srgbClr val="DAD1E6"/>
                </a:solidFill>
                <a:latin typeface="Inconsolata Bold" pitchFamily="34" charset="0"/>
                <a:ea typeface="Inconsolata Bold" pitchFamily="34" charset="-122"/>
                <a:cs typeface="Inconsolata Bold" pitchFamily="34" charset="-120"/>
              </a:rPr>
              <a:t>Priority Management</a:t>
            </a:r>
            <a:endParaRPr lang="en-US" sz="1800" dirty="0"/>
          </a:p>
        </p:txBody>
      </p:sp>
      <p:sp>
        <p:nvSpPr>
          <p:cNvPr id="13" name="Text 7"/>
          <p:cNvSpPr/>
          <p:nvPr/>
        </p:nvSpPr>
        <p:spPr>
          <a:xfrm>
            <a:off x="7585591" y="3876794"/>
            <a:ext cx="6121837" cy="570309"/>
          </a:xfrm>
          <a:prstGeom prst="rect">
            <a:avLst/>
          </a:prstGeom>
          <a:noFill/>
          <a:ln/>
        </p:spPr>
        <p:txBody>
          <a:bodyPr wrap="square" lIns="0" tIns="0" rIns="0" bIns="0" rtlCol="0" anchor="t"/>
          <a:lstStyle/>
          <a:p>
            <a:pPr marL="0" indent="0" algn="l">
              <a:lnSpc>
                <a:spcPts val="2200"/>
              </a:lnSpc>
              <a:buNone/>
            </a:pPr>
            <a:r>
              <a:rPr lang="en-US" sz="1450" dirty="0">
                <a:solidFill>
                  <a:srgbClr val="DAD1E6"/>
                </a:solidFill>
                <a:latin typeface="Fira Sans" pitchFamily="34" charset="0"/>
                <a:ea typeface="Fira Sans" pitchFamily="34" charset="-122"/>
                <a:cs typeface="Fira Sans" pitchFamily="34" charset="-120"/>
              </a:rPr>
              <a:t>Prioritize requests based on defined criteria such as price and timestamp</a:t>
            </a:r>
            <a:endParaRPr lang="en-US" sz="1450" dirty="0"/>
          </a:p>
        </p:txBody>
      </p:sp>
      <p:sp>
        <p:nvSpPr>
          <p:cNvPr id="14" name="Shape 8"/>
          <p:cNvSpPr/>
          <p:nvPr/>
        </p:nvSpPr>
        <p:spPr>
          <a:xfrm>
            <a:off x="738426" y="4803338"/>
            <a:ext cx="6490930" cy="2056328"/>
          </a:xfrm>
          <a:prstGeom prst="roundRect">
            <a:avLst>
              <a:gd name="adj" fmla="val 1347"/>
            </a:avLst>
          </a:prstGeom>
          <a:solidFill>
            <a:srgbClr val="433550"/>
          </a:solidFill>
          <a:ln/>
        </p:spPr>
      </p:sp>
      <p:pic>
        <p:nvPicPr>
          <p:cNvPr id="15" name="Image 4" descr="preencoded.png"/>
          <p:cNvPicPr>
            <a:picLocks noChangeAspect="1"/>
          </p:cNvPicPr>
          <p:nvPr/>
        </p:nvPicPr>
        <p:blipFill>
          <a:blip r:embed="rId9"/>
          <a:stretch>
            <a:fillRect/>
          </a:stretch>
        </p:blipFill>
        <p:spPr>
          <a:xfrm>
            <a:off x="922972" y="4987885"/>
            <a:ext cx="553879" cy="553879"/>
          </a:xfrm>
          <a:prstGeom prst="rect">
            <a:avLst/>
          </a:prstGeom>
        </p:spPr>
      </p:pic>
      <p:pic>
        <p:nvPicPr>
          <p:cNvPr id="16"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75253" y="5140166"/>
            <a:ext cx="249198" cy="249198"/>
          </a:xfrm>
          <a:prstGeom prst="rect">
            <a:avLst/>
          </a:prstGeom>
        </p:spPr>
      </p:pic>
      <p:sp>
        <p:nvSpPr>
          <p:cNvPr id="17" name="Text 9"/>
          <p:cNvSpPr/>
          <p:nvPr/>
        </p:nvSpPr>
        <p:spPr>
          <a:xfrm>
            <a:off x="922972" y="5713452"/>
            <a:ext cx="2307788" cy="288369"/>
          </a:xfrm>
          <a:prstGeom prst="rect">
            <a:avLst/>
          </a:prstGeom>
          <a:noFill/>
          <a:ln/>
        </p:spPr>
        <p:txBody>
          <a:bodyPr wrap="none" lIns="0" tIns="0" rIns="0" bIns="0" rtlCol="0" anchor="t"/>
          <a:lstStyle/>
          <a:p>
            <a:pPr marL="0" indent="0" algn="l">
              <a:lnSpc>
                <a:spcPts val="2250"/>
              </a:lnSpc>
              <a:buNone/>
            </a:pPr>
            <a:r>
              <a:rPr lang="en-US" sz="1800" b="1" dirty="0">
                <a:solidFill>
                  <a:srgbClr val="DAD1E6"/>
                </a:solidFill>
                <a:latin typeface="Inconsolata Bold" pitchFamily="34" charset="0"/>
                <a:ea typeface="Inconsolata Bold" pitchFamily="34" charset="-122"/>
                <a:cs typeface="Inconsolata Bold" pitchFamily="34" charset="-120"/>
              </a:rPr>
              <a:t>Automatic Matching</a:t>
            </a:r>
            <a:endParaRPr lang="en-US" sz="1800" dirty="0"/>
          </a:p>
        </p:txBody>
      </p:sp>
      <p:sp>
        <p:nvSpPr>
          <p:cNvPr id="18" name="Text 10"/>
          <p:cNvSpPr/>
          <p:nvPr/>
        </p:nvSpPr>
        <p:spPr>
          <a:xfrm>
            <a:off x="922972" y="6104811"/>
            <a:ext cx="6121837" cy="570309"/>
          </a:xfrm>
          <a:prstGeom prst="rect">
            <a:avLst/>
          </a:prstGeom>
          <a:noFill/>
          <a:ln/>
        </p:spPr>
        <p:txBody>
          <a:bodyPr wrap="square" lIns="0" tIns="0" rIns="0" bIns="0" rtlCol="0" anchor="t"/>
          <a:lstStyle/>
          <a:p>
            <a:pPr marL="0" indent="0" algn="l">
              <a:lnSpc>
                <a:spcPts val="2200"/>
              </a:lnSpc>
              <a:buNone/>
            </a:pPr>
            <a:r>
              <a:rPr lang="en-US" sz="1450" dirty="0">
                <a:solidFill>
                  <a:srgbClr val="DAD1E6"/>
                </a:solidFill>
                <a:latin typeface="Fira Sans" pitchFamily="34" charset="0"/>
                <a:ea typeface="Fira Sans" pitchFamily="34" charset="-122"/>
                <a:cs typeface="Fira Sans" pitchFamily="34" charset="-120"/>
              </a:rPr>
              <a:t>Automatically process compatible requests when buy price meets or exceeds sell price</a:t>
            </a:r>
            <a:endParaRPr lang="en-US" sz="1450" dirty="0"/>
          </a:p>
        </p:txBody>
      </p:sp>
      <p:sp>
        <p:nvSpPr>
          <p:cNvPr id="19" name="Shape 11"/>
          <p:cNvSpPr/>
          <p:nvPr/>
        </p:nvSpPr>
        <p:spPr>
          <a:xfrm>
            <a:off x="7401044" y="4803338"/>
            <a:ext cx="6490930" cy="2056328"/>
          </a:xfrm>
          <a:prstGeom prst="roundRect">
            <a:avLst>
              <a:gd name="adj" fmla="val 1347"/>
            </a:avLst>
          </a:prstGeom>
          <a:solidFill>
            <a:srgbClr val="433550"/>
          </a:solidFill>
          <a:ln/>
        </p:spPr>
      </p:sp>
      <p:pic>
        <p:nvPicPr>
          <p:cNvPr id="20" name="Image 6" descr="preencoded.png"/>
          <p:cNvPicPr>
            <a:picLocks noChangeAspect="1"/>
          </p:cNvPicPr>
          <p:nvPr/>
        </p:nvPicPr>
        <p:blipFill>
          <a:blip r:embed="rId12"/>
          <a:stretch>
            <a:fillRect/>
          </a:stretch>
        </p:blipFill>
        <p:spPr>
          <a:xfrm>
            <a:off x="7585591" y="4987885"/>
            <a:ext cx="553879" cy="553879"/>
          </a:xfrm>
          <a:prstGeom prst="rect">
            <a:avLst/>
          </a:prstGeom>
        </p:spPr>
      </p:pic>
      <p:pic>
        <p:nvPicPr>
          <p:cNvPr id="21"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37872" y="5140166"/>
            <a:ext cx="249198" cy="249198"/>
          </a:xfrm>
          <a:prstGeom prst="rect">
            <a:avLst/>
          </a:prstGeom>
        </p:spPr>
      </p:pic>
      <p:sp>
        <p:nvSpPr>
          <p:cNvPr id="22" name="Text 12"/>
          <p:cNvSpPr/>
          <p:nvPr/>
        </p:nvSpPr>
        <p:spPr>
          <a:xfrm>
            <a:off x="7585591" y="5713452"/>
            <a:ext cx="2307788" cy="288369"/>
          </a:xfrm>
          <a:prstGeom prst="rect">
            <a:avLst/>
          </a:prstGeom>
          <a:noFill/>
          <a:ln/>
        </p:spPr>
        <p:txBody>
          <a:bodyPr wrap="none" lIns="0" tIns="0" rIns="0" bIns="0" rtlCol="0" anchor="t"/>
          <a:lstStyle/>
          <a:p>
            <a:pPr marL="0" indent="0" algn="l">
              <a:lnSpc>
                <a:spcPts val="2250"/>
              </a:lnSpc>
              <a:buNone/>
            </a:pPr>
            <a:r>
              <a:rPr lang="en-US" sz="1800" b="1" dirty="0">
                <a:solidFill>
                  <a:srgbClr val="DAD1E6"/>
                </a:solidFill>
                <a:latin typeface="Inconsolata Bold" pitchFamily="34" charset="0"/>
                <a:ea typeface="Inconsolata Bold" pitchFamily="34" charset="-122"/>
                <a:cs typeface="Inconsolata Bold" pitchFamily="34" charset="-120"/>
              </a:rPr>
              <a:t>Historical Insights</a:t>
            </a:r>
            <a:endParaRPr lang="en-US" sz="1800" dirty="0"/>
          </a:p>
        </p:txBody>
      </p:sp>
      <p:sp>
        <p:nvSpPr>
          <p:cNvPr id="23" name="Text 13"/>
          <p:cNvSpPr/>
          <p:nvPr/>
        </p:nvSpPr>
        <p:spPr>
          <a:xfrm>
            <a:off x="7585591" y="6104811"/>
            <a:ext cx="6121837" cy="570309"/>
          </a:xfrm>
          <a:prstGeom prst="rect">
            <a:avLst/>
          </a:prstGeom>
          <a:noFill/>
          <a:ln/>
        </p:spPr>
        <p:txBody>
          <a:bodyPr wrap="square" lIns="0" tIns="0" rIns="0" bIns="0" rtlCol="0" anchor="t"/>
          <a:lstStyle/>
          <a:p>
            <a:pPr marL="0" indent="0" algn="l">
              <a:lnSpc>
                <a:spcPts val="2200"/>
              </a:lnSpc>
              <a:buNone/>
            </a:pPr>
            <a:r>
              <a:rPr lang="en-US" sz="1450" dirty="0">
                <a:solidFill>
                  <a:srgbClr val="DAD1E6"/>
                </a:solidFill>
                <a:latin typeface="Fira Sans" pitchFamily="34" charset="0"/>
                <a:ea typeface="Fira Sans" pitchFamily="34" charset="-122"/>
                <a:cs typeface="Fira Sans" pitchFamily="34" charset="-120"/>
              </a:rPr>
              <a:t>Maintain comprehensive records for analytics, auditing, and compliance purposes</a:t>
            </a:r>
            <a:endParaRPr lang="en-US" sz="1450" dirty="0"/>
          </a:p>
        </p:txBody>
      </p:sp>
      <p:sp>
        <p:nvSpPr>
          <p:cNvPr id="24" name="Text 14"/>
          <p:cNvSpPr/>
          <p:nvPr/>
        </p:nvSpPr>
        <p:spPr>
          <a:xfrm>
            <a:off x="738426" y="7052786"/>
            <a:ext cx="13153549" cy="570309"/>
          </a:xfrm>
          <a:prstGeom prst="rect">
            <a:avLst/>
          </a:prstGeom>
          <a:noFill/>
          <a:ln/>
        </p:spPr>
        <p:txBody>
          <a:bodyPr wrap="square" lIns="0" tIns="0" rIns="0" bIns="0" rtlCol="0" anchor="t"/>
          <a:lstStyle/>
          <a:p>
            <a:pPr marL="0" indent="0" algn="l">
              <a:lnSpc>
                <a:spcPts val="2200"/>
              </a:lnSpc>
              <a:buNone/>
            </a:pPr>
            <a:r>
              <a:rPr lang="en-US" sz="1450" dirty="0">
                <a:solidFill>
                  <a:srgbClr val="DAD1E6"/>
                </a:solidFill>
                <a:latin typeface="Fira Sans" pitchFamily="34" charset="0"/>
                <a:ea typeface="Fira Sans" pitchFamily="34" charset="-122"/>
                <a:cs typeface="Fira Sans" pitchFamily="34" charset="-120"/>
              </a:rPr>
              <a:t>This problem directly mirrors real-world stock exchanges where thousands of buy and sell orders arrive continuously, requiring millisecond-level processing to maintain market integrity.</a:t>
            </a:r>
            <a:endParaRPr lang="en-US" sz="1450" dirty="0"/>
          </a:p>
        </p:txBody>
      </p:sp>
      <p:pic>
        <p:nvPicPr>
          <p:cNvPr id="27" name="Picture 26">
            <a:extLst>
              <a:ext uri="{FF2B5EF4-FFF2-40B4-BE49-F238E27FC236}">
                <a16:creationId xmlns:a16="http://schemas.microsoft.com/office/drawing/2014/main" id="{0A9B97F1-3673-75BF-4685-8731DD70C4B6}"/>
              </a:ext>
            </a:extLst>
          </p:cNvPr>
          <p:cNvPicPr>
            <a:picLocks noChangeAspect="1"/>
          </p:cNvPicPr>
          <p:nvPr/>
        </p:nvPicPr>
        <p:blipFill>
          <a:blip r:embed="rId15"/>
          <a:stretch>
            <a:fillRect/>
          </a:stretch>
        </p:blipFill>
        <p:spPr>
          <a:xfrm>
            <a:off x="12667976" y="7778568"/>
            <a:ext cx="1962424" cy="3429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146691"/>
            <a:ext cx="7442121"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Motivation: The Need for Speed</a:t>
            </a:r>
            <a:endParaRPr lang="en-US" sz="3900" dirty="0"/>
          </a:p>
        </p:txBody>
      </p:sp>
      <p:sp>
        <p:nvSpPr>
          <p:cNvPr id="3" name="Text 1"/>
          <p:cNvSpPr/>
          <p:nvPr/>
        </p:nvSpPr>
        <p:spPr>
          <a:xfrm>
            <a:off x="793790" y="2243018"/>
            <a:ext cx="7632025" cy="127015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Modern financial markets have evolved into high-frequency environments where microseconds determine profitability. Stock exchanges process millions of orders per second, cryptocurrency markets operate 24/7 with volatile price movements, and online marketplaces require instant transaction confirmation.</a:t>
            </a:r>
            <a:endParaRPr lang="en-US" sz="1550" dirty="0"/>
          </a:p>
        </p:txBody>
      </p:sp>
      <p:sp>
        <p:nvSpPr>
          <p:cNvPr id="4" name="Text 2"/>
          <p:cNvSpPr/>
          <p:nvPr/>
        </p:nvSpPr>
        <p:spPr>
          <a:xfrm>
            <a:off x="793790" y="3691771"/>
            <a:ext cx="7632025" cy="158769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Poor data structure selection causes cascading delays and inefficiency throughout the system. In trading contexts, even millisecond delays can result in missed opportunities, unfair pricing, and regulatory violations. Efficient algorithms are not merely desirable—they are required to maintain market fairness, prevent arbitrage opportunities, and ensure all participants receive equitable treatment.</a:t>
            </a:r>
            <a:endParaRPr lang="en-US" sz="1550" dirty="0"/>
          </a:p>
        </p:txBody>
      </p:sp>
      <p:pic>
        <p:nvPicPr>
          <p:cNvPr id="5" name="Image 0" descr="preencoded.png"/>
          <p:cNvPicPr>
            <a:picLocks noChangeAspect="1"/>
          </p:cNvPicPr>
          <p:nvPr/>
        </p:nvPicPr>
        <p:blipFill>
          <a:blip r:embed="rId3"/>
          <a:stretch>
            <a:fillRect/>
          </a:stretch>
        </p:blipFill>
        <p:spPr>
          <a:xfrm>
            <a:off x="8917543" y="2287667"/>
            <a:ext cx="4926568" cy="3284339"/>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3790" y="6018490"/>
            <a:ext cx="496133" cy="496133"/>
          </a:xfrm>
          <a:prstGeom prst="rect">
            <a:avLst/>
          </a:prstGeom>
        </p:spPr>
      </p:pic>
      <p:sp>
        <p:nvSpPr>
          <p:cNvPr id="7" name="Text 3"/>
          <p:cNvSpPr/>
          <p:nvPr/>
        </p:nvSpPr>
        <p:spPr>
          <a:xfrm>
            <a:off x="1537930" y="60184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Stock Exchanges</a:t>
            </a:r>
            <a:endParaRPr lang="en-US" sz="1950" dirty="0"/>
          </a:p>
        </p:txBody>
      </p:sp>
      <p:sp>
        <p:nvSpPr>
          <p:cNvPr id="8" name="Text 4"/>
          <p:cNvSpPr/>
          <p:nvPr/>
        </p:nvSpPr>
        <p:spPr>
          <a:xfrm>
            <a:off x="1537930" y="6447711"/>
            <a:ext cx="3438049"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NYSE, NASDAQ process 1M+ orders per second during peak trading hours</a:t>
            </a:r>
            <a:endParaRPr lang="en-US" sz="1550" dirty="0"/>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23986" y="6018490"/>
            <a:ext cx="496133" cy="496133"/>
          </a:xfrm>
          <a:prstGeom prst="rect">
            <a:avLst/>
          </a:prstGeom>
        </p:spPr>
      </p:pic>
      <p:sp>
        <p:nvSpPr>
          <p:cNvPr id="10" name="Text 5"/>
          <p:cNvSpPr/>
          <p:nvPr/>
        </p:nvSpPr>
        <p:spPr>
          <a:xfrm>
            <a:off x="5968127" y="6018490"/>
            <a:ext cx="2728079"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Cryptocurrency Markets</a:t>
            </a:r>
            <a:endParaRPr lang="en-US" sz="1950" dirty="0"/>
          </a:p>
        </p:txBody>
      </p:sp>
      <p:sp>
        <p:nvSpPr>
          <p:cNvPr id="11" name="Text 6"/>
          <p:cNvSpPr/>
          <p:nvPr/>
        </p:nvSpPr>
        <p:spPr>
          <a:xfrm>
            <a:off x="5968127" y="6447711"/>
            <a:ext cx="3438168"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Binance, Coinbase handle continuous trading across global time zones</a:t>
            </a:r>
            <a:endParaRPr lang="en-US" sz="1550" dirty="0"/>
          </a:p>
        </p:txBody>
      </p:sp>
      <p:pic>
        <p:nvPicPr>
          <p:cNvPr id="12"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54302" y="6018490"/>
            <a:ext cx="496133" cy="496133"/>
          </a:xfrm>
          <a:prstGeom prst="rect">
            <a:avLst/>
          </a:prstGeom>
        </p:spPr>
      </p:pic>
      <p:sp>
        <p:nvSpPr>
          <p:cNvPr id="13" name="Text 7"/>
          <p:cNvSpPr/>
          <p:nvPr/>
        </p:nvSpPr>
        <p:spPr>
          <a:xfrm>
            <a:off x="10398443" y="60184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Online Marketplaces</a:t>
            </a:r>
            <a:endParaRPr lang="en-US" sz="1950" dirty="0"/>
          </a:p>
        </p:txBody>
      </p:sp>
      <p:sp>
        <p:nvSpPr>
          <p:cNvPr id="14" name="Text 8"/>
          <p:cNvSpPr/>
          <p:nvPr/>
        </p:nvSpPr>
        <p:spPr>
          <a:xfrm>
            <a:off x="10398443" y="6447711"/>
            <a:ext cx="3438168"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eBay, Amazon require real-time inventory and pricing synchronization</a:t>
            </a:r>
            <a:endParaRPr lang="en-US" sz="1550" dirty="0"/>
          </a:p>
        </p:txBody>
      </p:sp>
      <p:pic>
        <p:nvPicPr>
          <p:cNvPr id="16" name="Picture 15">
            <a:extLst>
              <a:ext uri="{FF2B5EF4-FFF2-40B4-BE49-F238E27FC236}">
                <a16:creationId xmlns:a16="http://schemas.microsoft.com/office/drawing/2014/main" id="{906CC2C8-D89B-8464-348C-5AB6A2600486}"/>
              </a:ext>
            </a:extLst>
          </p:cNvPr>
          <p:cNvPicPr>
            <a:picLocks noChangeAspect="1"/>
          </p:cNvPicPr>
          <p:nvPr/>
        </p:nvPicPr>
        <p:blipFill>
          <a:blip r:embed="rId10"/>
          <a:stretch>
            <a:fillRect/>
          </a:stretch>
        </p:blipFill>
        <p:spPr>
          <a:xfrm>
            <a:off x="12578671" y="7798172"/>
            <a:ext cx="1962424" cy="3429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48126" y="2711291"/>
            <a:ext cx="4990148" cy="2807018"/>
          </a:xfrm>
          <a:prstGeom prst="rect">
            <a:avLst/>
          </a:prstGeom>
        </p:spPr>
      </p:pic>
      <p:sp>
        <p:nvSpPr>
          <p:cNvPr id="4" name="Text 0"/>
          <p:cNvSpPr/>
          <p:nvPr/>
        </p:nvSpPr>
        <p:spPr>
          <a:xfrm>
            <a:off x="6280190" y="876419"/>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Core Data Structures</a:t>
            </a:r>
            <a:endParaRPr lang="en-US" sz="3900" dirty="0"/>
          </a:p>
        </p:txBody>
      </p:sp>
      <p:sp>
        <p:nvSpPr>
          <p:cNvPr id="5" name="Text 1"/>
          <p:cNvSpPr/>
          <p:nvPr/>
        </p:nvSpPr>
        <p:spPr>
          <a:xfrm>
            <a:off x="6280190" y="1794153"/>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This project combines multiple data structures to achieve both ordering and priority handling capabilities. Each structure contributes unique properties that address specific aspects of the order matching problem.</a:t>
            </a:r>
            <a:endParaRPr lang="en-US" sz="1550" dirty="0"/>
          </a:p>
        </p:txBody>
      </p:sp>
      <p:pic>
        <p:nvPicPr>
          <p:cNvPr id="6" name="Image 2" descr="preencoded.png"/>
          <p:cNvPicPr>
            <a:picLocks noChangeAspect="1"/>
          </p:cNvPicPr>
          <p:nvPr/>
        </p:nvPicPr>
        <p:blipFill>
          <a:blip r:embed="rId5"/>
          <a:stretch>
            <a:fillRect/>
          </a:stretch>
        </p:blipFill>
        <p:spPr>
          <a:xfrm>
            <a:off x="6280190" y="2970014"/>
            <a:ext cx="992267" cy="1461016"/>
          </a:xfrm>
          <a:prstGeom prst="rect">
            <a:avLst/>
          </a:prstGeom>
        </p:spPr>
      </p:pic>
      <p:sp>
        <p:nvSpPr>
          <p:cNvPr id="7" name="Text 2"/>
          <p:cNvSpPr/>
          <p:nvPr/>
        </p:nvSpPr>
        <p:spPr>
          <a:xfrm>
            <a:off x="7470815" y="316837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Binary Search Trees</a:t>
            </a:r>
            <a:endParaRPr lang="en-US" sz="1950" dirty="0"/>
          </a:p>
        </p:txBody>
      </p:sp>
      <p:sp>
        <p:nvSpPr>
          <p:cNvPr id="8" name="Text 3"/>
          <p:cNvSpPr/>
          <p:nvPr/>
        </p:nvSpPr>
        <p:spPr>
          <a:xfrm>
            <a:off x="7470815" y="3597593"/>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Organize orders by price in sorted order, enabling efficient range queries and ordered traversal</a:t>
            </a:r>
            <a:endParaRPr lang="en-US" sz="1550" dirty="0"/>
          </a:p>
        </p:txBody>
      </p:sp>
      <p:pic>
        <p:nvPicPr>
          <p:cNvPr id="9" name="Image 3" descr="preencoded.png"/>
          <p:cNvPicPr>
            <a:picLocks noChangeAspect="1"/>
          </p:cNvPicPr>
          <p:nvPr/>
        </p:nvPicPr>
        <p:blipFill>
          <a:blip r:embed="rId6"/>
          <a:stretch>
            <a:fillRect/>
          </a:stretch>
        </p:blipFill>
        <p:spPr>
          <a:xfrm>
            <a:off x="6280190" y="4431030"/>
            <a:ext cx="992267" cy="1461016"/>
          </a:xfrm>
          <a:prstGeom prst="rect">
            <a:avLst/>
          </a:prstGeom>
        </p:spPr>
      </p:pic>
      <p:sp>
        <p:nvSpPr>
          <p:cNvPr id="10" name="Text 4"/>
          <p:cNvSpPr/>
          <p:nvPr/>
        </p:nvSpPr>
        <p:spPr>
          <a:xfrm>
            <a:off x="7470815" y="462938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Heaps</a:t>
            </a:r>
            <a:endParaRPr lang="en-US" sz="1950" dirty="0"/>
          </a:p>
        </p:txBody>
      </p:sp>
      <p:sp>
        <p:nvSpPr>
          <p:cNvPr id="11" name="Text 5"/>
          <p:cNvSpPr/>
          <p:nvPr/>
        </p:nvSpPr>
        <p:spPr>
          <a:xfrm>
            <a:off x="7470815" y="5058608"/>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Quickly access highest-priority orders using max-heap for buys and min-heap for sells</a:t>
            </a:r>
            <a:endParaRPr lang="en-US" sz="1550" dirty="0"/>
          </a:p>
        </p:txBody>
      </p:sp>
      <p:pic>
        <p:nvPicPr>
          <p:cNvPr id="12" name="Image 4" descr="preencoded.png"/>
          <p:cNvPicPr>
            <a:picLocks noChangeAspect="1"/>
          </p:cNvPicPr>
          <p:nvPr/>
        </p:nvPicPr>
        <p:blipFill>
          <a:blip r:embed="rId7"/>
          <a:stretch>
            <a:fillRect/>
          </a:stretch>
        </p:blipFill>
        <p:spPr>
          <a:xfrm>
            <a:off x="6280190" y="5892046"/>
            <a:ext cx="992267" cy="1461016"/>
          </a:xfrm>
          <a:prstGeom prst="rect">
            <a:avLst/>
          </a:prstGeom>
        </p:spPr>
      </p:pic>
      <p:sp>
        <p:nvSpPr>
          <p:cNvPr id="13" name="Text 6"/>
          <p:cNvSpPr/>
          <p:nvPr/>
        </p:nvSpPr>
        <p:spPr>
          <a:xfrm>
            <a:off x="7470815" y="609040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Treaps</a:t>
            </a:r>
            <a:endParaRPr lang="en-US" sz="1950" dirty="0"/>
          </a:p>
        </p:txBody>
      </p:sp>
      <p:sp>
        <p:nvSpPr>
          <p:cNvPr id="14" name="Text 7"/>
          <p:cNvSpPr/>
          <p:nvPr/>
        </p:nvSpPr>
        <p:spPr>
          <a:xfrm>
            <a:off x="7470815" y="6519624"/>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Combine BST ordering with heap priority for balanced, efficient dynamic data management</a:t>
            </a:r>
            <a:endParaRPr lang="en-US" sz="1550" dirty="0"/>
          </a:p>
        </p:txBody>
      </p:sp>
      <p:pic>
        <p:nvPicPr>
          <p:cNvPr id="16" name="Picture 15">
            <a:extLst>
              <a:ext uri="{FF2B5EF4-FFF2-40B4-BE49-F238E27FC236}">
                <a16:creationId xmlns:a16="http://schemas.microsoft.com/office/drawing/2014/main" id="{240E0A4D-54D7-2904-0678-5674D105955A}"/>
              </a:ext>
            </a:extLst>
          </p:cNvPr>
          <p:cNvPicPr>
            <a:picLocks noChangeAspect="1"/>
          </p:cNvPicPr>
          <p:nvPr/>
        </p:nvPicPr>
        <p:blipFill>
          <a:blip r:embed="rId8"/>
          <a:stretch>
            <a:fillRect/>
          </a:stretch>
        </p:blipFill>
        <p:spPr>
          <a:xfrm>
            <a:off x="12578671" y="7809166"/>
            <a:ext cx="1962424" cy="3429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47105"/>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Binary Search Trees</a:t>
            </a:r>
            <a:endParaRPr lang="en-US" sz="3900" dirty="0"/>
          </a:p>
        </p:txBody>
      </p:sp>
      <p:sp>
        <p:nvSpPr>
          <p:cNvPr id="3" name="Text 1"/>
          <p:cNvSpPr/>
          <p:nvPr/>
        </p:nvSpPr>
        <p:spPr>
          <a:xfrm>
            <a:off x="793790" y="1763197"/>
            <a:ext cx="3421737" cy="372070"/>
          </a:xfrm>
          <a:prstGeom prst="rect">
            <a:avLst/>
          </a:prstGeom>
          <a:noFill/>
          <a:ln/>
        </p:spPr>
        <p:txBody>
          <a:bodyPr wrap="none" lIns="0" tIns="0" rIns="0" bIns="0" rtlCol="0" anchor="t"/>
          <a:lstStyle/>
          <a:p>
            <a:pPr marL="0" indent="0" algn="l">
              <a:lnSpc>
                <a:spcPts val="2900"/>
              </a:lnSpc>
              <a:buNone/>
            </a:pPr>
            <a:r>
              <a:rPr lang="en-US" sz="2300" b="1" dirty="0">
                <a:solidFill>
                  <a:srgbClr val="F94CAF"/>
                </a:solidFill>
                <a:latin typeface="Inconsolata Bold" pitchFamily="34" charset="0"/>
                <a:ea typeface="Inconsolata Bold" pitchFamily="34" charset="-122"/>
                <a:cs typeface="Inconsolata Bold" pitchFamily="34" charset="-120"/>
              </a:rPr>
              <a:t>Definition &amp; Properties</a:t>
            </a:r>
            <a:endParaRPr lang="en-US" sz="2300" dirty="0"/>
          </a:p>
        </p:txBody>
      </p:sp>
      <p:sp>
        <p:nvSpPr>
          <p:cNvPr id="4" name="Text 2"/>
          <p:cNvSpPr/>
          <p:nvPr/>
        </p:nvSpPr>
        <p:spPr>
          <a:xfrm>
            <a:off x="793790" y="2333625"/>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A Binary Search Tree (BST) is a hierarchical data structure where each node contains a key, and relationships follow specific ordering rules:</a:t>
            </a:r>
            <a:endParaRPr lang="en-US" sz="1550" dirty="0"/>
          </a:p>
        </p:txBody>
      </p:sp>
      <p:sp>
        <p:nvSpPr>
          <p:cNvPr id="5" name="Text 3"/>
          <p:cNvSpPr/>
          <p:nvPr/>
        </p:nvSpPr>
        <p:spPr>
          <a:xfrm>
            <a:off x="793790" y="3147298"/>
            <a:ext cx="6279356" cy="1091446"/>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Left subtree</a:t>
            </a:r>
            <a:r>
              <a:rPr lang="en-US" sz="1550" dirty="0">
                <a:solidFill>
                  <a:srgbClr val="DAD1E6"/>
                </a:solidFill>
                <a:latin typeface="Fira Sans" pitchFamily="34" charset="0"/>
                <a:ea typeface="Fira Sans" pitchFamily="34" charset="-122"/>
                <a:cs typeface="Fira Sans" pitchFamily="34" charset="-120"/>
              </a:rPr>
              <a:t> contains values smaller than the root</a:t>
            </a:r>
            <a:endParaRPr lang="en-US" sz="1550" dirty="0"/>
          </a:p>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Right subtree</a:t>
            </a:r>
            <a:r>
              <a:rPr lang="en-US" sz="1550" dirty="0">
                <a:solidFill>
                  <a:srgbClr val="DAD1E6"/>
                </a:solidFill>
                <a:latin typeface="Fira Sans" pitchFamily="34" charset="0"/>
                <a:ea typeface="Fira Sans" pitchFamily="34" charset="-122"/>
                <a:cs typeface="Fira Sans" pitchFamily="34" charset="-120"/>
              </a:rPr>
              <a:t> contains values larger than the root</a:t>
            </a:r>
            <a:endParaRPr lang="en-US" sz="1550" dirty="0"/>
          </a:p>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In-order traversal</a:t>
            </a:r>
            <a:r>
              <a:rPr lang="en-US" sz="1550" dirty="0">
                <a:solidFill>
                  <a:srgbClr val="DAD1E6"/>
                </a:solidFill>
                <a:latin typeface="Fira Sans" pitchFamily="34" charset="0"/>
                <a:ea typeface="Fira Sans" pitchFamily="34" charset="-122"/>
                <a:cs typeface="Fira Sans" pitchFamily="34" charset="-120"/>
              </a:rPr>
              <a:t> produces sorted sequence</a:t>
            </a:r>
            <a:endParaRPr lang="en-US" sz="1550" dirty="0"/>
          </a:p>
        </p:txBody>
      </p:sp>
      <p:sp>
        <p:nvSpPr>
          <p:cNvPr id="6" name="Text 4"/>
          <p:cNvSpPr/>
          <p:nvPr/>
        </p:nvSpPr>
        <p:spPr>
          <a:xfrm>
            <a:off x="793790" y="441733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The BST provides efficient searching, insertion, and deletion operations with average time complexity of O(log n) for balanced trees. However, worst-case complexity degrades to O(n) if the tree becomes unbalanced through sequential insertions.</a:t>
            </a:r>
            <a:endParaRPr lang="en-US" sz="1550" dirty="0"/>
          </a:p>
        </p:txBody>
      </p:sp>
      <p:sp>
        <p:nvSpPr>
          <p:cNvPr id="7" name="Text 5"/>
          <p:cNvSpPr/>
          <p:nvPr/>
        </p:nvSpPr>
        <p:spPr>
          <a:xfrm>
            <a:off x="7564874" y="1763197"/>
            <a:ext cx="4314349" cy="372070"/>
          </a:xfrm>
          <a:prstGeom prst="rect">
            <a:avLst/>
          </a:prstGeom>
          <a:noFill/>
          <a:ln/>
        </p:spPr>
        <p:txBody>
          <a:bodyPr wrap="none" lIns="0" tIns="0" rIns="0" bIns="0" rtlCol="0" anchor="t"/>
          <a:lstStyle/>
          <a:p>
            <a:pPr marL="0" indent="0" algn="l">
              <a:lnSpc>
                <a:spcPts val="2900"/>
              </a:lnSpc>
              <a:buNone/>
            </a:pPr>
            <a:r>
              <a:rPr lang="en-US" sz="2300" b="1" dirty="0">
                <a:solidFill>
                  <a:srgbClr val="F94CAF"/>
                </a:solidFill>
                <a:latin typeface="Inconsolata Bold" pitchFamily="34" charset="0"/>
                <a:ea typeface="Inconsolata Bold" pitchFamily="34" charset="-122"/>
                <a:cs typeface="Inconsolata Bold" pitchFamily="34" charset="-120"/>
              </a:rPr>
              <a:t>Application to Order Matching</a:t>
            </a:r>
            <a:endParaRPr lang="en-US" sz="2300" dirty="0"/>
          </a:p>
        </p:txBody>
      </p:sp>
      <p:sp>
        <p:nvSpPr>
          <p:cNvPr id="8" name="Text 6"/>
          <p:cNvSpPr/>
          <p:nvPr/>
        </p:nvSpPr>
        <p:spPr>
          <a:xfrm>
            <a:off x="7564874" y="2333625"/>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In StockProX, BSTs organize buy and sell orders by price level, creating natural price-time priority queues. Buy orders are stored in descending order while sell orders use ascending order, enabling efficient identification of matching price points.</a:t>
            </a:r>
            <a:endParaRPr lang="en-US" sz="1550" dirty="0"/>
          </a:p>
        </p:txBody>
      </p:sp>
      <p:pic>
        <p:nvPicPr>
          <p:cNvPr id="9" name="Image 0" descr="preencoded.png"/>
          <p:cNvPicPr>
            <a:picLocks noChangeAspect="1"/>
          </p:cNvPicPr>
          <p:nvPr/>
        </p:nvPicPr>
        <p:blipFill>
          <a:blip r:embed="rId3"/>
          <a:stretch>
            <a:fillRect/>
          </a:stretch>
        </p:blipFill>
        <p:spPr>
          <a:xfrm>
            <a:off x="7564874" y="3827026"/>
            <a:ext cx="6279356" cy="3532108"/>
          </a:xfrm>
          <a:prstGeom prst="rect">
            <a:avLst/>
          </a:prstGeom>
        </p:spPr>
      </p:pic>
      <p:pic>
        <p:nvPicPr>
          <p:cNvPr id="11" name="Picture 10">
            <a:extLst>
              <a:ext uri="{FF2B5EF4-FFF2-40B4-BE49-F238E27FC236}">
                <a16:creationId xmlns:a16="http://schemas.microsoft.com/office/drawing/2014/main" id="{387DE9FB-D599-A37B-B87E-8E5F36236619}"/>
              </a:ext>
            </a:extLst>
          </p:cNvPr>
          <p:cNvPicPr>
            <a:picLocks noChangeAspect="1"/>
          </p:cNvPicPr>
          <p:nvPr/>
        </p:nvPicPr>
        <p:blipFill>
          <a:blip r:embed="rId4"/>
          <a:stretch>
            <a:fillRect/>
          </a:stretch>
        </p:blipFill>
        <p:spPr>
          <a:xfrm>
            <a:off x="12210681" y="7705493"/>
            <a:ext cx="2419719" cy="5241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62088"/>
            <a:ext cx="9178528"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Heaps: Priority Management Structures</a:t>
            </a:r>
            <a:endParaRPr lang="en-US" sz="3900" dirty="0"/>
          </a:p>
        </p:txBody>
      </p:sp>
      <p:sp>
        <p:nvSpPr>
          <p:cNvPr id="3" name="Shape 1"/>
          <p:cNvSpPr/>
          <p:nvPr/>
        </p:nvSpPr>
        <p:spPr>
          <a:xfrm>
            <a:off x="793790" y="2379821"/>
            <a:ext cx="13042821" cy="1506736"/>
          </a:xfrm>
          <a:prstGeom prst="roundRect">
            <a:avLst>
              <a:gd name="adj" fmla="val 1976"/>
            </a:avLst>
          </a:prstGeom>
          <a:solidFill>
            <a:srgbClr val="241631"/>
          </a:solidFill>
          <a:ln w="22860">
            <a:solidFill>
              <a:srgbClr val="5C4E69"/>
            </a:solidFill>
            <a:prstDash val="solid"/>
          </a:ln>
        </p:spPr>
      </p:sp>
      <p:sp>
        <p:nvSpPr>
          <p:cNvPr id="4" name="Shape 2"/>
          <p:cNvSpPr/>
          <p:nvPr/>
        </p:nvSpPr>
        <p:spPr>
          <a:xfrm>
            <a:off x="816650" y="2402681"/>
            <a:ext cx="793790" cy="1461016"/>
          </a:xfrm>
          <a:prstGeom prst="roundRect">
            <a:avLst>
              <a:gd name="adj" fmla="val 295"/>
            </a:avLst>
          </a:prstGeom>
          <a:solidFill>
            <a:srgbClr val="433550"/>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4657" y="2984302"/>
            <a:ext cx="297656" cy="297656"/>
          </a:xfrm>
          <a:prstGeom prst="rect">
            <a:avLst/>
          </a:prstGeom>
        </p:spPr>
      </p:pic>
      <p:sp>
        <p:nvSpPr>
          <p:cNvPr id="6" name="Text 3"/>
          <p:cNvSpPr/>
          <p:nvPr/>
        </p:nvSpPr>
        <p:spPr>
          <a:xfrm>
            <a:off x="1808798" y="260103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Max Heap</a:t>
            </a:r>
            <a:endParaRPr lang="en-US" sz="1950" dirty="0"/>
          </a:p>
        </p:txBody>
      </p:sp>
      <p:sp>
        <p:nvSpPr>
          <p:cNvPr id="7" name="Text 4"/>
          <p:cNvSpPr/>
          <p:nvPr/>
        </p:nvSpPr>
        <p:spPr>
          <a:xfrm>
            <a:off x="1808798" y="3030260"/>
            <a:ext cx="11806595"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Largest element positioned at the root node, with all children smaller than parent. Ideal for finding highest buy price in order matching systems.</a:t>
            </a:r>
            <a:endParaRPr lang="en-US" sz="1550" dirty="0"/>
          </a:p>
        </p:txBody>
      </p:sp>
      <p:sp>
        <p:nvSpPr>
          <p:cNvPr id="8" name="Shape 5"/>
          <p:cNvSpPr/>
          <p:nvPr/>
        </p:nvSpPr>
        <p:spPr>
          <a:xfrm>
            <a:off x="793790" y="4084915"/>
            <a:ext cx="13042821" cy="1506736"/>
          </a:xfrm>
          <a:prstGeom prst="roundRect">
            <a:avLst>
              <a:gd name="adj" fmla="val 1976"/>
            </a:avLst>
          </a:prstGeom>
          <a:solidFill>
            <a:srgbClr val="241631"/>
          </a:solidFill>
          <a:ln w="22860">
            <a:solidFill>
              <a:srgbClr val="5C4E69"/>
            </a:solidFill>
            <a:prstDash val="solid"/>
          </a:ln>
        </p:spPr>
      </p:sp>
      <p:sp>
        <p:nvSpPr>
          <p:cNvPr id="9" name="Shape 6"/>
          <p:cNvSpPr/>
          <p:nvPr/>
        </p:nvSpPr>
        <p:spPr>
          <a:xfrm>
            <a:off x="816650" y="4107775"/>
            <a:ext cx="793790" cy="1461016"/>
          </a:xfrm>
          <a:prstGeom prst="roundRect">
            <a:avLst>
              <a:gd name="adj" fmla="val 295"/>
            </a:avLst>
          </a:prstGeom>
          <a:solidFill>
            <a:srgbClr val="433550"/>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4657" y="4689396"/>
            <a:ext cx="297656" cy="297656"/>
          </a:xfrm>
          <a:prstGeom prst="rect">
            <a:avLst/>
          </a:prstGeom>
        </p:spPr>
      </p:pic>
      <p:sp>
        <p:nvSpPr>
          <p:cNvPr id="11" name="Text 7"/>
          <p:cNvSpPr/>
          <p:nvPr/>
        </p:nvSpPr>
        <p:spPr>
          <a:xfrm>
            <a:off x="1808798" y="430613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Min Heap</a:t>
            </a:r>
            <a:endParaRPr lang="en-US" sz="1950" dirty="0"/>
          </a:p>
        </p:txBody>
      </p:sp>
      <p:sp>
        <p:nvSpPr>
          <p:cNvPr id="12" name="Text 8"/>
          <p:cNvSpPr/>
          <p:nvPr/>
        </p:nvSpPr>
        <p:spPr>
          <a:xfrm>
            <a:off x="1808798" y="4735354"/>
            <a:ext cx="11806595"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Smallest element positioned at the root node, with all children larger than parent. Perfect for identifying lowest sell price in trading platforms.</a:t>
            </a:r>
            <a:endParaRPr lang="en-US" sz="1550" dirty="0"/>
          </a:p>
        </p:txBody>
      </p:sp>
      <p:sp>
        <p:nvSpPr>
          <p:cNvPr id="13" name="Text 9"/>
          <p:cNvSpPr/>
          <p:nvPr/>
        </p:nvSpPr>
        <p:spPr>
          <a:xfrm>
            <a:off x="793790" y="5814893"/>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Heaps are specialized tree structures that maintain the heap property through efficient insertion and extraction operations. They guarantee O(1) access to the highest or lowest priority element and O(log n) for insertion and deletion. In real-time systems, heaps enable priority scheduling, task management, and quick identification of optimal matching candidates without full tree traversal.</a:t>
            </a:r>
            <a:endParaRPr lang="en-US" sz="1550" dirty="0"/>
          </a:p>
        </p:txBody>
      </p:sp>
      <p:pic>
        <p:nvPicPr>
          <p:cNvPr id="15" name="Picture 14">
            <a:extLst>
              <a:ext uri="{FF2B5EF4-FFF2-40B4-BE49-F238E27FC236}">
                <a16:creationId xmlns:a16="http://schemas.microsoft.com/office/drawing/2014/main" id="{72DC2037-502B-D8B4-7461-A9B6AAF741BD}"/>
              </a:ext>
            </a:extLst>
          </p:cNvPr>
          <p:cNvPicPr>
            <a:picLocks noChangeAspect="1"/>
          </p:cNvPicPr>
          <p:nvPr/>
        </p:nvPicPr>
        <p:blipFill>
          <a:blip r:embed="rId7"/>
          <a:stretch>
            <a:fillRect/>
          </a:stretch>
        </p:blipFill>
        <p:spPr>
          <a:xfrm>
            <a:off x="12634181" y="7768194"/>
            <a:ext cx="1962424" cy="34294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3657" y="828318"/>
            <a:ext cx="5768816" cy="534114"/>
          </a:xfrm>
          <a:prstGeom prst="rect">
            <a:avLst/>
          </a:prstGeom>
          <a:noFill/>
          <a:ln/>
        </p:spPr>
        <p:txBody>
          <a:bodyPr wrap="none" lIns="0" tIns="0" rIns="0" bIns="0" rtlCol="0" anchor="t"/>
          <a:lstStyle/>
          <a:p>
            <a:pPr marL="0" indent="0" algn="l">
              <a:lnSpc>
                <a:spcPts val="4200"/>
              </a:lnSpc>
              <a:buNone/>
            </a:pPr>
            <a:r>
              <a:rPr lang="en-US" sz="3350" b="1" dirty="0">
                <a:solidFill>
                  <a:srgbClr val="F94CAF"/>
                </a:solidFill>
                <a:latin typeface="Inconsolata Bold" pitchFamily="34" charset="0"/>
                <a:ea typeface="Inconsolata Bold" pitchFamily="34" charset="-122"/>
                <a:cs typeface="Inconsolata Bold" pitchFamily="34" charset="-120"/>
              </a:rPr>
              <a:t>Treaps: The Hybrid Solution</a:t>
            </a:r>
            <a:endParaRPr lang="en-US" sz="3350" dirty="0"/>
          </a:p>
        </p:txBody>
      </p:sp>
      <p:sp>
        <p:nvSpPr>
          <p:cNvPr id="3" name="Text 1"/>
          <p:cNvSpPr/>
          <p:nvPr/>
        </p:nvSpPr>
        <p:spPr>
          <a:xfrm>
            <a:off x="683657" y="1656755"/>
            <a:ext cx="13263086" cy="509111"/>
          </a:xfrm>
          <a:prstGeom prst="rect">
            <a:avLst/>
          </a:prstGeom>
          <a:noFill/>
          <a:ln/>
        </p:spPr>
        <p:txBody>
          <a:bodyPr wrap="square" lIns="0" tIns="0" rIns="0" bIns="0" rtlCol="0" anchor="t"/>
          <a:lstStyle/>
          <a:p>
            <a:pPr marL="0" indent="0" algn="l">
              <a:lnSpc>
                <a:spcPts val="2000"/>
              </a:lnSpc>
              <a:buNone/>
            </a:pPr>
            <a:r>
              <a:rPr lang="en-US" sz="1300" dirty="0">
                <a:solidFill>
                  <a:srgbClr val="DAD1E6"/>
                </a:solidFill>
                <a:latin typeface="Fira Sans" pitchFamily="34" charset="0"/>
                <a:ea typeface="Fira Sans" pitchFamily="34" charset="-122"/>
                <a:cs typeface="Fira Sans" pitchFamily="34" charset="-120"/>
              </a:rPr>
              <a:t>A Treap is a hybrid data structure that combines Binary Search Tree ordering with Heap priority management, creating a self-balancing structure that maintains efficiency for dynamic data.</a:t>
            </a:r>
            <a:endParaRPr lang="en-US" sz="1300" dirty="0"/>
          </a:p>
        </p:txBody>
      </p:sp>
      <p:sp>
        <p:nvSpPr>
          <p:cNvPr id="4" name="Shape 2"/>
          <p:cNvSpPr/>
          <p:nvPr/>
        </p:nvSpPr>
        <p:spPr>
          <a:xfrm>
            <a:off x="683657" y="2331482"/>
            <a:ext cx="4322921" cy="1866067"/>
          </a:xfrm>
          <a:prstGeom prst="roundRect">
            <a:avLst>
              <a:gd name="adj" fmla="val 1374"/>
            </a:avLst>
          </a:prstGeom>
          <a:solidFill>
            <a:srgbClr val="433550"/>
          </a:solidFill>
          <a:ln/>
        </p:spPr>
      </p:sp>
      <p:pic>
        <p:nvPicPr>
          <p:cNvPr id="5" name="Image 0" descr="preencoded.png"/>
          <p:cNvPicPr>
            <a:picLocks noChangeAspect="1"/>
          </p:cNvPicPr>
          <p:nvPr/>
        </p:nvPicPr>
        <p:blipFill>
          <a:blip r:embed="rId3"/>
          <a:stretch>
            <a:fillRect/>
          </a:stretch>
        </p:blipFill>
        <p:spPr>
          <a:xfrm>
            <a:off x="854512" y="2502337"/>
            <a:ext cx="512802" cy="512802"/>
          </a:xfrm>
          <a:prstGeom prst="rect">
            <a:avLst/>
          </a:prstGeom>
        </p:spPr>
      </p:pic>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5482" y="2643307"/>
            <a:ext cx="230743" cy="230743"/>
          </a:xfrm>
          <a:prstGeom prst="rect">
            <a:avLst/>
          </a:prstGeom>
        </p:spPr>
      </p:pic>
      <p:sp>
        <p:nvSpPr>
          <p:cNvPr id="7" name="Text 3"/>
          <p:cNvSpPr/>
          <p:nvPr/>
        </p:nvSpPr>
        <p:spPr>
          <a:xfrm>
            <a:off x="854512" y="3162300"/>
            <a:ext cx="2136577" cy="267057"/>
          </a:xfrm>
          <a:prstGeom prst="rect">
            <a:avLst/>
          </a:prstGeom>
          <a:noFill/>
          <a:ln/>
        </p:spPr>
        <p:txBody>
          <a:bodyPr wrap="none" lIns="0" tIns="0" rIns="0" bIns="0" rtlCol="0" anchor="t"/>
          <a:lstStyle/>
          <a:p>
            <a:pPr marL="0" indent="0" algn="l">
              <a:lnSpc>
                <a:spcPts val="2100"/>
              </a:lnSpc>
              <a:buNone/>
            </a:pPr>
            <a:r>
              <a:rPr lang="en-US" sz="1650" b="1" dirty="0">
                <a:solidFill>
                  <a:srgbClr val="DAD1E6"/>
                </a:solidFill>
                <a:latin typeface="Inconsolata Bold" pitchFamily="34" charset="0"/>
                <a:ea typeface="Inconsolata Bold" pitchFamily="34" charset="-122"/>
                <a:cs typeface="Inconsolata Bold" pitchFamily="34" charset="-120"/>
              </a:rPr>
              <a:t>BST Property</a:t>
            </a:r>
            <a:endParaRPr lang="en-US" sz="1650" dirty="0"/>
          </a:p>
        </p:txBody>
      </p:sp>
      <p:sp>
        <p:nvSpPr>
          <p:cNvPr id="8" name="Text 4"/>
          <p:cNvSpPr/>
          <p:nvPr/>
        </p:nvSpPr>
        <p:spPr>
          <a:xfrm>
            <a:off x="854512" y="3517583"/>
            <a:ext cx="3981212" cy="509111"/>
          </a:xfrm>
          <a:prstGeom prst="rect">
            <a:avLst/>
          </a:prstGeom>
          <a:noFill/>
          <a:ln/>
        </p:spPr>
        <p:txBody>
          <a:bodyPr wrap="square" lIns="0" tIns="0" rIns="0" bIns="0" rtlCol="0" anchor="t"/>
          <a:lstStyle/>
          <a:p>
            <a:pPr marL="0" indent="0" algn="l">
              <a:lnSpc>
                <a:spcPts val="2000"/>
              </a:lnSpc>
              <a:buNone/>
            </a:pPr>
            <a:r>
              <a:rPr lang="en-US" sz="1300" dirty="0">
                <a:solidFill>
                  <a:srgbClr val="DAD1E6"/>
                </a:solidFill>
                <a:latin typeface="Fira Sans" pitchFamily="34" charset="0"/>
                <a:ea typeface="Fira Sans" pitchFamily="34" charset="-122"/>
                <a:cs typeface="Fira Sans" pitchFamily="34" charset="-120"/>
              </a:rPr>
              <a:t>Nodes ordered by key (price), with left subtree smaller and right subtree larger than current node</a:t>
            </a:r>
            <a:endParaRPr lang="en-US" sz="1300" dirty="0"/>
          </a:p>
        </p:txBody>
      </p:sp>
      <p:sp>
        <p:nvSpPr>
          <p:cNvPr id="9" name="Shape 5"/>
          <p:cNvSpPr/>
          <p:nvPr/>
        </p:nvSpPr>
        <p:spPr>
          <a:xfrm>
            <a:off x="5153739" y="2331482"/>
            <a:ext cx="4322921" cy="1866067"/>
          </a:xfrm>
          <a:prstGeom prst="roundRect">
            <a:avLst>
              <a:gd name="adj" fmla="val 1374"/>
            </a:avLst>
          </a:prstGeom>
          <a:solidFill>
            <a:srgbClr val="433550"/>
          </a:solidFill>
          <a:ln/>
        </p:spPr>
      </p:sp>
      <p:pic>
        <p:nvPicPr>
          <p:cNvPr id="10" name="Image 2" descr="preencoded.png"/>
          <p:cNvPicPr>
            <a:picLocks noChangeAspect="1"/>
          </p:cNvPicPr>
          <p:nvPr/>
        </p:nvPicPr>
        <p:blipFill>
          <a:blip r:embed="rId6"/>
          <a:stretch>
            <a:fillRect/>
          </a:stretch>
        </p:blipFill>
        <p:spPr>
          <a:xfrm>
            <a:off x="5324594" y="2502337"/>
            <a:ext cx="512802" cy="512802"/>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65564" y="2643307"/>
            <a:ext cx="230743" cy="230743"/>
          </a:xfrm>
          <a:prstGeom prst="rect">
            <a:avLst/>
          </a:prstGeom>
        </p:spPr>
      </p:pic>
      <p:sp>
        <p:nvSpPr>
          <p:cNvPr id="12" name="Text 6"/>
          <p:cNvSpPr/>
          <p:nvPr/>
        </p:nvSpPr>
        <p:spPr>
          <a:xfrm>
            <a:off x="5324594" y="3162300"/>
            <a:ext cx="2136577" cy="267057"/>
          </a:xfrm>
          <a:prstGeom prst="rect">
            <a:avLst/>
          </a:prstGeom>
          <a:noFill/>
          <a:ln/>
        </p:spPr>
        <p:txBody>
          <a:bodyPr wrap="none" lIns="0" tIns="0" rIns="0" bIns="0" rtlCol="0" anchor="t"/>
          <a:lstStyle/>
          <a:p>
            <a:pPr marL="0" indent="0" algn="l">
              <a:lnSpc>
                <a:spcPts val="2100"/>
              </a:lnSpc>
              <a:buNone/>
            </a:pPr>
            <a:r>
              <a:rPr lang="en-US" sz="1650" b="1" dirty="0">
                <a:solidFill>
                  <a:srgbClr val="DAD1E6"/>
                </a:solidFill>
                <a:latin typeface="Inconsolata Bold" pitchFamily="34" charset="0"/>
                <a:ea typeface="Inconsolata Bold" pitchFamily="34" charset="-122"/>
                <a:cs typeface="Inconsolata Bold" pitchFamily="34" charset="-120"/>
              </a:rPr>
              <a:t>Heap Property</a:t>
            </a:r>
            <a:endParaRPr lang="en-US" sz="1650" dirty="0"/>
          </a:p>
        </p:txBody>
      </p:sp>
      <p:sp>
        <p:nvSpPr>
          <p:cNvPr id="13" name="Text 7"/>
          <p:cNvSpPr/>
          <p:nvPr/>
        </p:nvSpPr>
        <p:spPr>
          <a:xfrm>
            <a:off x="5324594" y="3517583"/>
            <a:ext cx="3981212" cy="509111"/>
          </a:xfrm>
          <a:prstGeom prst="rect">
            <a:avLst/>
          </a:prstGeom>
          <a:noFill/>
          <a:ln/>
        </p:spPr>
        <p:txBody>
          <a:bodyPr wrap="square" lIns="0" tIns="0" rIns="0" bIns="0" rtlCol="0" anchor="t"/>
          <a:lstStyle/>
          <a:p>
            <a:pPr marL="0" indent="0" algn="l">
              <a:lnSpc>
                <a:spcPts val="2000"/>
              </a:lnSpc>
              <a:buNone/>
            </a:pPr>
            <a:r>
              <a:rPr lang="en-US" sz="1300" dirty="0">
                <a:solidFill>
                  <a:srgbClr val="DAD1E6"/>
                </a:solidFill>
                <a:latin typeface="Fira Sans" pitchFamily="34" charset="0"/>
                <a:ea typeface="Fira Sans" pitchFamily="34" charset="-122"/>
                <a:cs typeface="Fira Sans" pitchFamily="34" charset="-120"/>
              </a:rPr>
              <a:t>Nodes ordered by priority (timestamp), with parent having higher priority than children</a:t>
            </a:r>
            <a:endParaRPr lang="en-US" sz="1300" dirty="0"/>
          </a:p>
        </p:txBody>
      </p:sp>
      <p:sp>
        <p:nvSpPr>
          <p:cNvPr id="14" name="Shape 8"/>
          <p:cNvSpPr/>
          <p:nvPr/>
        </p:nvSpPr>
        <p:spPr>
          <a:xfrm>
            <a:off x="9623822" y="2331482"/>
            <a:ext cx="4322921" cy="1866067"/>
          </a:xfrm>
          <a:prstGeom prst="roundRect">
            <a:avLst>
              <a:gd name="adj" fmla="val 1374"/>
            </a:avLst>
          </a:prstGeom>
          <a:solidFill>
            <a:srgbClr val="433550"/>
          </a:solidFill>
          <a:ln/>
        </p:spPr>
      </p:sp>
      <p:pic>
        <p:nvPicPr>
          <p:cNvPr id="15" name="Image 4" descr="preencoded.png"/>
          <p:cNvPicPr>
            <a:picLocks noChangeAspect="1"/>
          </p:cNvPicPr>
          <p:nvPr/>
        </p:nvPicPr>
        <p:blipFill>
          <a:blip r:embed="rId9"/>
          <a:stretch>
            <a:fillRect/>
          </a:stretch>
        </p:blipFill>
        <p:spPr>
          <a:xfrm>
            <a:off x="9794677" y="2502337"/>
            <a:ext cx="512802" cy="512802"/>
          </a:xfrm>
          <a:prstGeom prst="rect">
            <a:avLst/>
          </a:prstGeom>
        </p:spPr>
      </p:pic>
      <p:pic>
        <p:nvPicPr>
          <p:cNvPr id="16"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35647" y="2643307"/>
            <a:ext cx="230743" cy="230743"/>
          </a:xfrm>
          <a:prstGeom prst="rect">
            <a:avLst/>
          </a:prstGeom>
        </p:spPr>
      </p:pic>
      <p:sp>
        <p:nvSpPr>
          <p:cNvPr id="17" name="Text 9"/>
          <p:cNvSpPr/>
          <p:nvPr/>
        </p:nvSpPr>
        <p:spPr>
          <a:xfrm>
            <a:off x="9794677" y="3162300"/>
            <a:ext cx="2136577" cy="267057"/>
          </a:xfrm>
          <a:prstGeom prst="rect">
            <a:avLst/>
          </a:prstGeom>
          <a:noFill/>
          <a:ln/>
        </p:spPr>
        <p:txBody>
          <a:bodyPr wrap="none" lIns="0" tIns="0" rIns="0" bIns="0" rtlCol="0" anchor="t"/>
          <a:lstStyle/>
          <a:p>
            <a:pPr marL="0" indent="0" algn="l">
              <a:lnSpc>
                <a:spcPts val="2100"/>
              </a:lnSpc>
              <a:buNone/>
            </a:pPr>
            <a:r>
              <a:rPr lang="en-US" sz="1650" b="1" dirty="0">
                <a:solidFill>
                  <a:srgbClr val="DAD1E6"/>
                </a:solidFill>
                <a:latin typeface="Inconsolata Bold" pitchFamily="34" charset="0"/>
                <a:ea typeface="Inconsolata Bold" pitchFamily="34" charset="-122"/>
                <a:cs typeface="Inconsolata Bold" pitchFamily="34" charset="-120"/>
              </a:rPr>
              <a:t>Automatic Balancing</a:t>
            </a:r>
            <a:endParaRPr lang="en-US" sz="1650" dirty="0"/>
          </a:p>
        </p:txBody>
      </p:sp>
      <p:sp>
        <p:nvSpPr>
          <p:cNvPr id="18" name="Text 10"/>
          <p:cNvSpPr/>
          <p:nvPr/>
        </p:nvSpPr>
        <p:spPr>
          <a:xfrm>
            <a:off x="9794677" y="3517583"/>
            <a:ext cx="3981212" cy="509111"/>
          </a:xfrm>
          <a:prstGeom prst="rect">
            <a:avLst/>
          </a:prstGeom>
          <a:noFill/>
          <a:ln/>
        </p:spPr>
        <p:txBody>
          <a:bodyPr wrap="square" lIns="0" tIns="0" rIns="0" bIns="0" rtlCol="0" anchor="t"/>
          <a:lstStyle/>
          <a:p>
            <a:pPr marL="0" indent="0" algn="l">
              <a:lnSpc>
                <a:spcPts val="2000"/>
              </a:lnSpc>
              <a:buNone/>
            </a:pPr>
            <a:r>
              <a:rPr lang="en-US" sz="1300" dirty="0">
                <a:solidFill>
                  <a:srgbClr val="DAD1E6"/>
                </a:solidFill>
                <a:latin typeface="Fira Sans" pitchFamily="34" charset="0"/>
                <a:ea typeface="Fira Sans" pitchFamily="34" charset="-122"/>
                <a:cs typeface="Fira Sans" pitchFamily="34" charset="-120"/>
              </a:rPr>
              <a:t>Tree rotations maintain balance when heap property is violated during insertions</a:t>
            </a:r>
            <a:endParaRPr lang="en-US" sz="1300" dirty="0"/>
          </a:p>
        </p:txBody>
      </p:sp>
      <p:sp>
        <p:nvSpPr>
          <p:cNvPr id="19" name="Text 11"/>
          <p:cNvSpPr/>
          <p:nvPr/>
        </p:nvSpPr>
        <p:spPr>
          <a:xfrm>
            <a:off x="683657" y="4510326"/>
            <a:ext cx="2136577" cy="267057"/>
          </a:xfrm>
          <a:prstGeom prst="rect">
            <a:avLst/>
          </a:prstGeom>
          <a:noFill/>
          <a:ln/>
        </p:spPr>
        <p:txBody>
          <a:bodyPr wrap="none" lIns="0" tIns="0" rIns="0" bIns="0" rtlCol="0" anchor="t"/>
          <a:lstStyle/>
          <a:p>
            <a:pPr marL="0" indent="0" algn="l">
              <a:lnSpc>
                <a:spcPts val="2100"/>
              </a:lnSpc>
              <a:buNone/>
            </a:pPr>
            <a:r>
              <a:rPr lang="en-US" sz="1650" b="1" dirty="0">
                <a:solidFill>
                  <a:srgbClr val="F94CAF"/>
                </a:solidFill>
                <a:latin typeface="Inconsolata Bold" pitchFamily="34" charset="0"/>
                <a:ea typeface="Inconsolata Bold" pitchFamily="34" charset="-122"/>
                <a:cs typeface="Inconsolata Bold" pitchFamily="34" charset="-120"/>
              </a:rPr>
              <a:t>Node Structure</a:t>
            </a:r>
            <a:endParaRPr lang="en-US" sz="1650" dirty="0"/>
          </a:p>
        </p:txBody>
      </p:sp>
      <p:sp>
        <p:nvSpPr>
          <p:cNvPr id="20" name="Shape 12"/>
          <p:cNvSpPr/>
          <p:nvPr/>
        </p:nvSpPr>
        <p:spPr>
          <a:xfrm>
            <a:off x="683657" y="4942999"/>
            <a:ext cx="6423065" cy="2292668"/>
          </a:xfrm>
          <a:prstGeom prst="roundRect">
            <a:avLst>
              <a:gd name="adj" fmla="val 1118"/>
            </a:avLst>
          </a:prstGeom>
          <a:solidFill>
            <a:srgbClr val="31233E"/>
          </a:solidFill>
          <a:ln/>
        </p:spPr>
      </p:sp>
      <p:sp>
        <p:nvSpPr>
          <p:cNvPr id="21" name="Shape 13"/>
          <p:cNvSpPr/>
          <p:nvPr/>
        </p:nvSpPr>
        <p:spPr>
          <a:xfrm>
            <a:off x="675203" y="4942999"/>
            <a:ext cx="6439972" cy="2292668"/>
          </a:xfrm>
          <a:prstGeom prst="roundRect">
            <a:avLst>
              <a:gd name="adj" fmla="val 1118"/>
            </a:avLst>
          </a:prstGeom>
          <a:solidFill>
            <a:srgbClr val="31233E"/>
          </a:solidFill>
          <a:ln/>
        </p:spPr>
      </p:sp>
      <p:sp>
        <p:nvSpPr>
          <p:cNvPr id="22" name="Text 14"/>
          <p:cNvSpPr/>
          <p:nvPr/>
        </p:nvSpPr>
        <p:spPr>
          <a:xfrm>
            <a:off x="846058" y="5071110"/>
            <a:ext cx="6098262" cy="2036445"/>
          </a:xfrm>
          <a:prstGeom prst="rect">
            <a:avLst/>
          </a:prstGeom>
          <a:noFill/>
          <a:ln/>
        </p:spPr>
        <p:txBody>
          <a:bodyPr wrap="square" lIns="0" tIns="0" rIns="0" bIns="0" rtlCol="0" anchor="t"/>
          <a:lstStyle/>
          <a:p>
            <a:pPr marL="0" indent="0" algn="l">
              <a:lnSpc>
                <a:spcPts val="2000"/>
              </a:lnSpc>
              <a:buNone/>
            </a:pPr>
            <a:r>
              <a:rPr lang="en-US" sz="1300" dirty="0">
                <a:solidFill>
                  <a:srgbClr val="DAD1E6"/>
                </a:solidFill>
                <a:highlight>
                  <a:srgbClr val="31233E"/>
                </a:highlight>
                <a:latin typeface="Consolas" pitchFamily="34" charset="0"/>
                <a:ea typeface="Consolas" pitchFamily="34" charset="-122"/>
                <a:cs typeface="Consolas" pitchFamily="34" charset="-120"/>
              </a:rPr>
              <a:t>struct Node {
  double price;      // BST key
  long timestamp;    // Heap priority
  int quantity;
  Node* left;
  Node* right;
};
</a:t>
            </a:r>
            <a:endParaRPr lang="en-US" sz="1300" dirty="0"/>
          </a:p>
        </p:txBody>
      </p:sp>
      <p:sp>
        <p:nvSpPr>
          <p:cNvPr id="23" name="Text 15"/>
          <p:cNvSpPr/>
          <p:nvPr/>
        </p:nvSpPr>
        <p:spPr>
          <a:xfrm>
            <a:off x="7531298" y="4510326"/>
            <a:ext cx="2136577" cy="267057"/>
          </a:xfrm>
          <a:prstGeom prst="rect">
            <a:avLst/>
          </a:prstGeom>
          <a:noFill/>
          <a:ln/>
        </p:spPr>
        <p:txBody>
          <a:bodyPr wrap="none" lIns="0" tIns="0" rIns="0" bIns="0" rtlCol="0" anchor="t"/>
          <a:lstStyle/>
          <a:p>
            <a:pPr marL="0" indent="0" algn="l">
              <a:lnSpc>
                <a:spcPts val="2100"/>
              </a:lnSpc>
              <a:buNone/>
            </a:pPr>
            <a:r>
              <a:rPr lang="en-US" sz="1650" b="1" dirty="0">
                <a:solidFill>
                  <a:srgbClr val="F94CAF"/>
                </a:solidFill>
                <a:latin typeface="Inconsolata Bold" pitchFamily="34" charset="0"/>
                <a:ea typeface="Inconsolata Bold" pitchFamily="34" charset="-122"/>
                <a:cs typeface="Inconsolata Bold" pitchFamily="34" charset="-120"/>
              </a:rPr>
              <a:t>Advantages</a:t>
            </a:r>
            <a:endParaRPr lang="en-US" sz="1650" dirty="0"/>
          </a:p>
        </p:txBody>
      </p:sp>
      <p:sp>
        <p:nvSpPr>
          <p:cNvPr id="24" name="Text 16"/>
          <p:cNvSpPr/>
          <p:nvPr/>
        </p:nvSpPr>
        <p:spPr>
          <a:xfrm>
            <a:off x="7531298" y="4924544"/>
            <a:ext cx="6423065" cy="1172528"/>
          </a:xfrm>
          <a:prstGeom prst="rect">
            <a:avLst/>
          </a:prstGeom>
          <a:noFill/>
          <a:ln/>
        </p:spPr>
        <p:txBody>
          <a:bodyPr wrap="square" lIns="0" tIns="0" rIns="0" bIns="0" rtlCol="0" anchor="t"/>
          <a:lstStyle/>
          <a:p>
            <a:pPr marL="342900" indent="-342900" algn="l">
              <a:lnSpc>
                <a:spcPts val="2000"/>
              </a:lnSpc>
              <a:buSzPct val="100000"/>
              <a:buChar char="•"/>
            </a:pPr>
            <a:r>
              <a:rPr lang="en-US" sz="1300" dirty="0">
                <a:solidFill>
                  <a:srgbClr val="DAD1E6"/>
                </a:solidFill>
                <a:latin typeface="Fira Sans" pitchFamily="34" charset="0"/>
                <a:ea typeface="Fira Sans" pitchFamily="34" charset="-122"/>
                <a:cs typeface="Fira Sans" pitchFamily="34" charset="-120"/>
              </a:rPr>
              <a:t>Expected O(log n) time complexity</a:t>
            </a:r>
            <a:endParaRPr lang="en-US" sz="1300" dirty="0"/>
          </a:p>
          <a:p>
            <a:pPr marL="342900" indent="-342900" algn="l">
              <a:lnSpc>
                <a:spcPts val="2000"/>
              </a:lnSpc>
              <a:buSzPct val="100000"/>
              <a:buChar char="•"/>
            </a:pPr>
            <a:r>
              <a:rPr lang="en-US" sz="1300" dirty="0">
                <a:solidFill>
                  <a:srgbClr val="DAD1E6"/>
                </a:solidFill>
                <a:latin typeface="Fira Sans" pitchFamily="34" charset="0"/>
                <a:ea typeface="Fira Sans" pitchFamily="34" charset="-122"/>
                <a:cs typeface="Fira Sans" pitchFamily="34" charset="-120"/>
              </a:rPr>
              <a:t>Self-balancing without complex logic</a:t>
            </a:r>
            <a:endParaRPr lang="en-US" sz="1300" dirty="0"/>
          </a:p>
          <a:p>
            <a:pPr marL="342900" indent="-342900" algn="l">
              <a:lnSpc>
                <a:spcPts val="2000"/>
              </a:lnSpc>
              <a:buSzPct val="100000"/>
              <a:buChar char="•"/>
            </a:pPr>
            <a:r>
              <a:rPr lang="en-US" sz="1300" dirty="0">
                <a:solidFill>
                  <a:srgbClr val="DAD1E6"/>
                </a:solidFill>
                <a:latin typeface="Fira Sans" pitchFamily="34" charset="0"/>
                <a:ea typeface="Fira Sans" pitchFamily="34" charset="-122"/>
                <a:cs typeface="Fira Sans" pitchFamily="34" charset="-120"/>
              </a:rPr>
              <a:t>Combines ordering with priority</a:t>
            </a:r>
            <a:endParaRPr lang="en-US" sz="1300" dirty="0"/>
          </a:p>
          <a:p>
            <a:pPr marL="342900" indent="-342900" algn="l">
              <a:lnSpc>
                <a:spcPts val="2000"/>
              </a:lnSpc>
              <a:buSzPct val="100000"/>
              <a:buChar char="•"/>
            </a:pPr>
            <a:r>
              <a:rPr lang="en-US" sz="1300" dirty="0">
                <a:solidFill>
                  <a:srgbClr val="DAD1E6"/>
                </a:solidFill>
                <a:latin typeface="Fira Sans" pitchFamily="34" charset="0"/>
                <a:ea typeface="Fira Sans" pitchFamily="34" charset="-122"/>
                <a:cs typeface="Fira Sans" pitchFamily="34" charset="-120"/>
              </a:rPr>
              <a:t>Efficient for dynamic data</a:t>
            </a:r>
            <a:endParaRPr lang="en-US" sz="1300" dirty="0"/>
          </a:p>
        </p:txBody>
      </p:sp>
      <p:pic>
        <p:nvPicPr>
          <p:cNvPr id="26" name="Picture 25">
            <a:extLst>
              <a:ext uri="{FF2B5EF4-FFF2-40B4-BE49-F238E27FC236}">
                <a16:creationId xmlns:a16="http://schemas.microsoft.com/office/drawing/2014/main" id="{EF5D7082-F882-E7D7-5C17-2BAD77AAF844}"/>
              </a:ext>
            </a:extLst>
          </p:cNvPr>
          <p:cNvPicPr>
            <a:picLocks noChangeAspect="1"/>
          </p:cNvPicPr>
          <p:nvPr/>
        </p:nvPicPr>
        <p:blipFill>
          <a:blip r:embed="rId12"/>
          <a:stretch>
            <a:fillRect/>
          </a:stretch>
        </p:blipFill>
        <p:spPr>
          <a:xfrm>
            <a:off x="12545218" y="7790497"/>
            <a:ext cx="1962424" cy="3429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83112"/>
            <a:ext cx="7938254"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Why Treaps? Technical Advantages</a:t>
            </a:r>
            <a:endParaRPr lang="en-US" sz="39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065258"/>
            <a:ext cx="198358" cy="198358"/>
          </a:xfrm>
          <a:prstGeom prst="rect">
            <a:avLst/>
          </a:prstGeom>
        </p:spPr>
      </p:pic>
      <p:pic>
        <p:nvPicPr>
          <p:cNvPr id="4" name="Image 1" descr="preencoded.png"/>
          <p:cNvPicPr>
            <a:picLocks noChangeAspect="1"/>
          </p:cNvPicPr>
          <p:nvPr/>
        </p:nvPicPr>
        <p:blipFill>
          <a:blip r:embed="rId5"/>
          <a:stretch>
            <a:fillRect/>
          </a:stretch>
        </p:blipFill>
        <p:spPr>
          <a:xfrm>
            <a:off x="793790" y="2315170"/>
            <a:ext cx="6422231" cy="22860"/>
          </a:xfrm>
          <a:prstGeom prst="rect">
            <a:avLst/>
          </a:prstGeom>
        </p:spPr>
      </p:pic>
      <p:sp>
        <p:nvSpPr>
          <p:cNvPr id="5" name="Text 1"/>
          <p:cNvSpPr/>
          <p:nvPr/>
        </p:nvSpPr>
        <p:spPr>
          <a:xfrm>
            <a:off x="793790" y="2460069"/>
            <a:ext cx="260413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Combined Capabilities</a:t>
            </a:r>
            <a:endParaRPr lang="en-US" sz="1950" dirty="0"/>
          </a:p>
        </p:txBody>
      </p:sp>
      <p:sp>
        <p:nvSpPr>
          <p:cNvPr id="6" name="Text 2"/>
          <p:cNvSpPr/>
          <p:nvPr/>
        </p:nvSpPr>
        <p:spPr>
          <a:xfrm>
            <a:off x="793790" y="288929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Simultaneously maintains ordering by price and priority by timestamp, eliminating need for separate data structures</a:t>
            </a:r>
            <a:endParaRPr lang="en-US" sz="155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14379" y="2065258"/>
            <a:ext cx="198358" cy="198358"/>
          </a:xfrm>
          <a:prstGeom prst="rect">
            <a:avLst/>
          </a:prstGeom>
        </p:spPr>
      </p:pic>
      <p:pic>
        <p:nvPicPr>
          <p:cNvPr id="8" name="Image 3" descr="preencoded.png"/>
          <p:cNvPicPr>
            <a:picLocks noChangeAspect="1"/>
          </p:cNvPicPr>
          <p:nvPr/>
        </p:nvPicPr>
        <p:blipFill>
          <a:blip r:embed="rId5"/>
          <a:stretch>
            <a:fillRect/>
          </a:stretch>
        </p:blipFill>
        <p:spPr>
          <a:xfrm>
            <a:off x="7414379" y="2315170"/>
            <a:ext cx="6422231" cy="22860"/>
          </a:xfrm>
          <a:prstGeom prst="rect">
            <a:avLst/>
          </a:prstGeom>
        </p:spPr>
      </p:pic>
      <p:sp>
        <p:nvSpPr>
          <p:cNvPr id="9" name="Text 3"/>
          <p:cNvSpPr/>
          <p:nvPr/>
        </p:nvSpPr>
        <p:spPr>
          <a:xfrm>
            <a:off x="7414379" y="24600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Automatic Balance</a:t>
            </a:r>
            <a:endParaRPr lang="en-US" sz="1950" dirty="0"/>
          </a:p>
        </p:txBody>
      </p:sp>
      <p:sp>
        <p:nvSpPr>
          <p:cNvPr id="10" name="Text 4"/>
          <p:cNvSpPr/>
          <p:nvPr/>
        </p:nvSpPr>
        <p:spPr>
          <a:xfrm>
            <a:off x="7414379" y="288929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Randomized priorities ensure tree remains balanced with high probability, preventing degeneration into linked list</a:t>
            </a:r>
            <a:endParaRPr lang="en-US" sz="1550" dirty="0"/>
          </a:p>
        </p:txBody>
      </p:sp>
      <p:pic>
        <p:nvPicPr>
          <p:cNvPr id="11"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3790" y="3896320"/>
            <a:ext cx="198358" cy="198358"/>
          </a:xfrm>
          <a:prstGeom prst="rect">
            <a:avLst/>
          </a:prstGeom>
        </p:spPr>
      </p:pic>
      <p:pic>
        <p:nvPicPr>
          <p:cNvPr id="12" name="Image 5" descr="preencoded.png"/>
          <p:cNvPicPr>
            <a:picLocks noChangeAspect="1"/>
          </p:cNvPicPr>
          <p:nvPr/>
        </p:nvPicPr>
        <p:blipFill>
          <a:blip r:embed="rId5"/>
          <a:stretch>
            <a:fillRect/>
          </a:stretch>
        </p:blipFill>
        <p:spPr>
          <a:xfrm>
            <a:off x="793790" y="4166116"/>
            <a:ext cx="6422231" cy="22860"/>
          </a:xfrm>
          <a:prstGeom prst="rect">
            <a:avLst/>
          </a:prstGeom>
        </p:spPr>
      </p:pic>
      <p:sp>
        <p:nvSpPr>
          <p:cNvPr id="13" name="Text 5"/>
          <p:cNvSpPr/>
          <p:nvPr/>
        </p:nvSpPr>
        <p:spPr>
          <a:xfrm>
            <a:off x="793790" y="433077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Dynamic Efficiency</a:t>
            </a:r>
            <a:endParaRPr lang="en-US" sz="1950" dirty="0"/>
          </a:p>
        </p:txBody>
      </p:sp>
      <p:sp>
        <p:nvSpPr>
          <p:cNvPr id="14" name="Text 6"/>
          <p:cNvSpPr/>
          <p:nvPr/>
        </p:nvSpPr>
        <p:spPr>
          <a:xfrm>
            <a:off x="793790" y="476000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Faster than simple BST for datasets with frequent insertions and deletions, maintaining consistent performance</a:t>
            </a:r>
            <a:endParaRPr lang="en-US" sz="1550" dirty="0"/>
          </a:p>
        </p:txBody>
      </p:sp>
      <p:pic>
        <p:nvPicPr>
          <p:cNvPr id="15" name="Image 6"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14379" y="3896320"/>
            <a:ext cx="198358" cy="198358"/>
          </a:xfrm>
          <a:prstGeom prst="rect">
            <a:avLst/>
          </a:prstGeom>
        </p:spPr>
      </p:pic>
      <p:pic>
        <p:nvPicPr>
          <p:cNvPr id="16" name="Image 7" descr="preencoded.png"/>
          <p:cNvPicPr>
            <a:picLocks noChangeAspect="1"/>
          </p:cNvPicPr>
          <p:nvPr/>
        </p:nvPicPr>
        <p:blipFill>
          <a:blip r:embed="rId5"/>
          <a:stretch>
            <a:fillRect/>
          </a:stretch>
        </p:blipFill>
        <p:spPr>
          <a:xfrm>
            <a:off x="7414379" y="4166116"/>
            <a:ext cx="6422231" cy="22860"/>
          </a:xfrm>
          <a:prstGeom prst="rect">
            <a:avLst/>
          </a:prstGeom>
        </p:spPr>
      </p:pic>
      <p:sp>
        <p:nvSpPr>
          <p:cNvPr id="17" name="Text 7"/>
          <p:cNvSpPr/>
          <p:nvPr/>
        </p:nvSpPr>
        <p:spPr>
          <a:xfrm>
            <a:off x="7414379" y="433077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Real-Time Ready</a:t>
            </a:r>
            <a:endParaRPr lang="en-US" sz="1950" dirty="0"/>
          </a:p>
        </p:txBody>
      </p:sp>
      <p:sp>
        <p:nvSpPr>
          <p:cNvPr id="18" name="Text 8"/>
          <p:cNvSpPr/>
          <p:nvPr/>
        </p:nvSpPr>
        <p:spPr>
          <a:xfrm>
            <a:off x="7414379" y="4760000"/>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Suitable for real-time systems requiring millisecond-level response times and consistent worst-case behavior</a:t>
            </a:r>
            <a:endParaRPr lang="en-US" sz="1550" dirty="0"/>
          </a:p>
        </p:txBody>
      </p:sp>
      <p:sp>
        <p:nvSpPr>
          <p:cNvPr id="19" name="Text 9"/>
          <p:cNvSpPr/>
          <p:nvPr/>
        </p:nvSpPr>
        <p:spPr>
          <a:xfrm>
            <a:off x="793790" y="5841563"/>
            <a:ext cx="3421737" cy="372070"/>
          </a:xfrm>
          <a:prstGeom prst="rect">
            <a:avLst/>
          </a:prstGeom>
          <a:noFill/>
          <a:ln/>
        </p:spPr>
        <p:txBody>
          <a:bodyPr wrap="none" lIns="0" tIns="0" rIns="0" bIns="0" rtlCol="0" anchor="t"/>
          <a:lstStyle/>
          <a:p>
            <a:pPr marL="0" indent="0" algn="l">
              <a:lnSpc>
                <a:spcPts val="2900"/>
              </a:lnSpc>
              <a:buNone/>
            </a:pPr>
            <a:r>
              <a:rPr lang="en-US" sz="2300" b="1" dirty="0">
                <a:solidFill>
                  <a:srgbClr val="F94CAF"/>
                </a:solidFill>
                <a:latin typeface="Inconsolata Bold" pitchFamily="34" charset="0"/>
                <a:ea typeface="Inconsolata Bold" pitchFamily="34" charset="-122"/>
                <a:cs typeface="Inconsolata Bold" pitchFamily="34" charset="-120"/>
              </a:rPr>
              <a:t>Real-World Applications</a:t>
            </a:r>
            <a:endParaRPr lang="en-US" sz="2300" dirty="0"/>
          </a:p>
        </p:txBody>
      </p:sp>
      <p:sp>
        <p:nvSpPr>
          <p:cNvPr id="20" name="Text 10"/>
          <p:cNvSpPr/>
          <p:nvPr/>
        </p:nvSpPr>
        <p:spPr>
          <a:xfrm>
            <a:off x="793790" y="651129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Treaps excel in order books for trading platforms, database indexing systems requiring dynamic updates, memory allocation systems with variable block sizes, and event simulation systems processing time-ordered events with priority weighting.</a:t>
            </a:r>
            <a:endParaRPr lang="en-US" sz="1550" dirty="0"/>
          </a:p>
        </p:txBody>
      </p:sp>
      <p:pic>
        <p:nvPicPr>
          <p:cNvPr id="22" name="Picture 21">
            <a:extLst>
              <a:ext uri="{FF2B5EF4-FFF2-40B4-BE49-F238E27FC236}">
                <a16:creationId xmlns:a16="http://schemas.microsoft.com/office/drawing/2014/main" id="{B00A27E5-DD7D-090E-109A-A25D5C9E56B6}"/>
              </a:ext>
            </a:extLst>
          </p:cNvPr>
          <p:cNvPicPr>
            <a:picLocks noChangeAspect="1"/>
          </p:cNvPicPr>
          <p:nvPr/>
        </p:nvPicPr>
        <p:blipFill>
          <a:blip r:embed="rId12"/>
          <a:stretch>
            <a:fillRect/>
          </a:stretch>
        </p:blipFill>
        <p:spPr>
          <a:xfrm>
            <a:off x="12556369" y="7772043"/>
            <a:ext cx="1962424" cy="3429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06755" y="756999"/>
            <a:ext cx="8392835" cy="552212"/>
          </a:xfrm>
          <a:prstGeom prst="rect">
            <a:avLst/>
          </a:prstGeom>
          <a:noFill/>
          <a:ln/>
        </p:spPr>
        <p:txBody>
          <a:bodyPr wrap="none" lIns="0" tIns="0" rIns="0" bIns="0" rtlCol="0" anchor="t"/>
          <a:lstStyle/>
          <a:p>
            <a:pPr marL="0" indent="0" algn="l">
              <a:lnSpc>
                <a:spcPts val="4300"/>
              </a:lnSpc>
              <a:buNone/>
            </a:pPr>
            <a:r>
              <a:rPr lang="en-US" sz="3450" b="1" dirty="0">
                <a:solidFill>
                  <a:srgbClr val="F94CAF"/>
                </a:solidFill>
                <a:latin typeface="Inconsolata Bold" pitchFamily="34" charset="0"/>
                <a:ea typeface="Inconsolata Bold" pitchFamily="34" charset="-122"/>
                <a:cs typeface="Inconsolata Bold" pitchFamily="34" charset="-120"/>
              </a:rPr>
              <a:t>Real-World Applications Beyond Trading</a:t>
            </a:r>
            <a:endParaRPr lang="en-US" sz="3450" dirty="0"/>
          </a:p>
        </p:txBody>
      </p:sp>
      <p:pic>
        <p:nvPicPr>
          <p:cNvPr id="3" name="Image 0" descr="preencoded.png"/>
          <p:cNvPicPr>
            <a:picLocks noChangeAspect="1"/>
          </p:cNvPicPr>
          <p:nvPr/>
        </p:nvPicPr>
        <p:blipFill>
          <a:blip r:embed="rId3"/>
          <a:stretch>
            <a:fillRect/>
          </a:stretch>
        </p:blipFill>
        <p:spPr>
          <a:xfrm>
            <a:off x="706755" y="1623774"/>
            <a:ext cx="1830824" cy="1131451"/>
          </a:xfrm>
          <a:prstGeom prst="rect">
            <a:avLst/>
          </a:prstGeom>
        </p:spPr>
      </p:pic>
      <p:sp>
        <p:nvSpPr>
          <p:cNvPr id="4" name="Text 1"/>
          <p:cNvSpPr/>
          <p:nvPr/>
        </p:nvSpPr>
        <p:spPr>
          <a:xfrm>
            <a:off x="706755" y="2951798"/>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DAD1E6"/>
                </a:solidFill>
                <a:latin typeface="Inconsolata Bold" pitchFamily="34" charset="0"/>
                <a:ea typeface="Inconsolata Bold" pitchFamily="34" charset="-122"/>
                <a:cs typeface="Inconsolata Bold" pitchFamily="34" charset="-120"/>
              </a:rPr>
              <a:t>Stock Exchanges</a:t>
            </a:r>
            <a:endParaRPr lang="en-US" sz="1700" dirty="0"/>
          </a:p>
        </p:txBody>
      </p:sp>
      <p:sp>
        <p:nvSpPr>
          <p:cNvPr id="5" name="Text 2"/>
          <p:cNvSpPr/>
          <p:nvPr/>
        </p:nvSpPr>
        <p:spPr>
          <a:xfrm>
            <a:off x="706755" y="3322082"/>
            <a:ext cx="3156704" cy="1068705"/>
          </a:xfrm>
          <a:prstGeom prst="rect">
            <a:avLst/>
          </a:prstGeom>
          <a:noFill/>
          <a:ln/>
        </p:spPr>
        <p:txBody>
          <a:bodyPr wrap="square" lIns="0" tIns="0" rIns="0" bIns="0" rtlCol="0" anchor="t"/>
          <a:lstStyle/>
          <a:p>
            <a:pPr marL="0" indent="0" algn="l">
              <a:lnSpc>
                <a:spcPts val="2100"/>
              </a:lnSpc>
              <a:buNone/>
            </a:pPr>
            <a:r>
              <a:rPr lang="en-US" sz="1350" dirty="0">
                <a:solidFill>
                  <a:srgbClr val="DAD1E6"/>
                </a:solidFill>
                <a:latin typeface="Fira Sans" pitchFamily="34" charset="0"/>
                <a:ea typeface="Fira Sans" pitchFamily="34" charset="-122"/>
                <a:cs typeface="Fira Sans" pitchFamily="34" charset="-120"/>
              </a:rPr>
              <a:t>NYSE, NASDAQ, and other exchanges use treap-like structures for order books, matching millions of trades daily with sub-millisecond latency</a:t>
            </a:r>
            <a:endParaRPr lang="en-US" sz="1350" dirty="0"/>
          </a:p>
        </p:txBody>
      </p:sp>
      <p:pic>
        <p:nvPicPr>
          <p:cNvPr id="6" name="Image 1" descr="preencoded.png"/>
          <p:cNvPicPr>
            <a:picLocks noChangeAspect="1"/>
          </p:cNvPicPr>
          <p:nvPr/>
        </p:nvPicPr>
        <p:blipFill>
          <a:blip r:embed="rId4"/>
          <a:stretch>
            <a:fillRect/>
          </a:stretch>
        </p:blipFill>
        <p:spPr>
          <a:xfrm>
            <a:off x="4060031" y="1623774"/>
            <a:ext cx="1830943" cy="1131570"/>
          </a:xfrm>
          <a:prstGeom prst="rect">
            <a:avLst/>
          </a:prstGeom>
        </p:spPr>
      </p:pic>
      <p:sp>
        <p:nvSpPr>
          <p:cNvPr id="7" name="Text 3"/>
          <p:cNvSpPr/>
          <p:nvPr/>
        </p:nvSpPr>
        <p:spPr>
          <a:xfrm>
            <a:off x="4060031" y="2951917"/>
            <a:ext cx="2428280" cy="275987"/>
          </a:xfrm>
          <a:prstGeom prst="rect">
            <a:avLst/>
          </a:prstGeom>
          <a:noFill/>
          <a:ln/>
        </p:spPr>
        <p:txBody>
          <a:bodyPr wrap="none" lIns="0" tIns="0" rIns="0" bIns="0" rtlCol="0" anchor="t"/>
          <a:lstStyle/>
          <a:p>
            <a:pPr marL="0" indent="0" algn="l">
              <a:lnSpc>
                <a:spcPts val="2150"/>
              </a:lnSpc>
              <a:buNone/>
            </a:pPr>
            <a:r>
              <a:rPr lang="en-US" sz="1700" b="1" dirty="0">
                <a:solidFill>
                  <a:srgbClr val="DAD1E6"/>
                </a:solidFill>
                <a:latin typeface="Inconsolata Bold" pitchFamily="34" charset="0"/>
                <a:ea typeface="Inconsolata Bold" pitchFamily="34" charset="-122"/>
                <a:cs typeface="Inconsolata Bold" pitchFamily="34" charset="-120"/>
              </a:rPr>
              <a:t>Cryptocurrency Markets</a:t>
            </a:r>
            <a:endParaRPr lang="en-US" sz="1700" dirty="0"/>
          </a:p>
        </p:txBody>
      </p:sp>
      <p:sp>
        <p:nvSpPr>
          <p:cNvPr id="8" name="Text 4"/>
          <p:cNvSpPr/>
          <p:nvPr/>
        </p:nvSpPr>
        <p:spPr>
          <a:xfrm>
            <a:off x="4060031" y="3322201"/>
            <a:ext cx="3156823" cy="1068705"/>
          </a:xfrm>
          <a:prstGeom prst="rect">
            <a:avLst/>
          </a:prstGeom>
          <a:noFill/>
          <a:ln/>
        </p:spPr>
        <p:txBody>
          <a:bodyPr wrap="square" lIns="0" tIns="0" rIns="0" bIns="0" rtlCol="0" anchor="t"/>
          <a:lstStyle/>
          <a:p>
            <a:pPr marL="0" indent="0" algn="l">
              <a:lnSpc>
                <a:spcPts val="2100"/>
              </a:lnSpc>
              <a:buNone/>
            </a:pPr>
            <a:r>
              <a:rPr lang="en-US" sz="1350" dirty="0">
                <a:solidFill>
                  <a:srgbClr val="DAD1E6"/>
                </a:solidFill>
                <a:latin typeface="Fira Sans" pitchFamily="34" charset="0"/>
                <a:ea typeface="Fira Sans" pitchFamily="34" charset="-122"/>
                <a:cs typeface="Fira Sans" pitchFamily="34" charset="-120"/>
              </a:rPr>
              <a:t>Binance, Coinbase, and crypto exchanges leverage priority queues for matching engine, handling continuous 24/7 trading across global markets</a:t>
            </a:r>
            <a:endParaRPr lang="en-US" sz="1350" dirty="0"/>
          </a:p>
        </p:txBody>
      </p:sp>
      <p:pic>
        <p:nvPicPr>
          <p:cNvPr id="9" name="Image 2" descr="preencoded.png"/>
          <p:cNvPicPr>
            <a:picLocks noChangeAspect="1"/>
          </p:cNvPicPr>
          <p:nvPr/>
        </p:nvPicPr>
        <p:blipFill>
          <a:blip r:embed="rId5"/>
          <a:stretch>
            <a:fillRect/>
          </a:stretch>
        </p:blipFill>
        <p:spPr>
          <a:xfrm>
            <a:off x="7413427" y="1623774"/>
            <a:ext cx="1830943" cy="1131570"/>
          </a:xfrm>
          <a:prstGeom prst="rect">
            <a:avLst/>
          </a:prstGeom>
        </p:spPr>
      </p:pic>
      <p:sp>
        <p:nvSpPr>
          <p:cNvPr id="10" name="Text 5"/>
          <p:cNvSpPr/>
          <p:nvPr/>
        </p:nvSpPr>
        <p:spPr>
          <a:xfrm>
            <a:off x="7413427" y="2951917"/>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DAD1E6"/>
                </a:solidFill>
                <a:latin typeface="Inconsolata Bold" pitchFamily="34" charset="0"/>
                <a:ea typeface="Inconsolata Bold" pitchFamily="34" charset="-122"/>
                <a:cs typeface="Inconsolata Bold" pitchFamily="34" charset="-120"/>
              </a:rPr>
              <a:t>Priority Scheduling</a:t>
            </a:r>
            <a:endParaRPr lang="en-US" sz="1700" dirty="0"/>
          </a:p>
        </p:txBody>
      </p:sp>
      <p:sp>
        <p:nvSpPr>
          <p:cNvPr id="11" name="Text 6"/>
          <p:cNvSpPr/>
          <p:nvPr/>
        </p:nvSpPr>
        <p:spPr>
          <a:xfrm>
            <a:off x="7413427" y="3322201"/>
            <a:ext cx="3156823" cy="1068705"/>
          </a:xfrm>
          <a:prstGeom prst="rect">
            <a:avLst/>
          </a:prstGeom>
          <a:noFill/>
          <a:ln/>
        </p:spPr>
        <p:txBody>
          <a:bodyPr wrap="square" lIns="0" tIns="0" rIns="0" bIns="0" rtlCol="0" anchor="t"/>
          <a:lstStyle/>
          <a:p>
            <a:pPr marL="0" indent="0" algn="l">
              <a:lnSpc>
                <a:spcPts val="2100"/>
              </a:lnSpc>
              <a:buNone/>
            </a:pPr>
            <a:r>
              <a:rPr lang="en-US" sz="1350" dirty="0">
                <a:solidFill>
                  <a:srgbClr val="DAD1E6"/>
                </a:solidFill>
                <a:latin typeface="Fira Sans" pitchFamily="34" charset="0"/>
                <a:ea typeface="Fira Sans" pitchFamily="34" charset="-122"/>
                <a:cs typeface="Fira Sans" pitchFamily="34" charset="-120"/>
              </a:rPr>
              <a:t>Operating systems and real-time systems use heap-based structures for task scheduling, ensuring highest-priority processes execute first</a:t>
            </a:r>
            <a:endParaRPr lang="en-US" sz="1350" dirty="0"/>
          </a:p>
        </p:txBody>
      </p:sp>
      <p:pic>
        <p:nvPicPr>
          <p:cNvPr id="12" name="Image 3" descr="preencoded.png"/>
          <p:cNvPicPr>
            <a:picLocks noChangeAspect="1"/>
          </p:cNvPicPr>
          <p:nvPr/>
        </p:nvPicPr>
        <p:blipFill>
          <a:blip r:embed="rId6"/>
          <a:stretch>
            <a:fillRect/>
          </a:stretch>
        </p:blipFill>
        <p:spPr>
          <a:xfrm>
            <a:off x="10766822" y="1623774"/>
            <a:ext cx="1830943" cy="1131570"/>
          </a:xfrm>
          <a:prstGeom prst="rect">
            <a:avLst/>
          </a:prstGeom>
        </p:spPr>
      </p:pic>
      <p:sp>
        <p:nvSpPr>
          <p:cNvPr id="13" name="Text 7"/>
          <p:cNvSpPr/>
          <p:nvPr/>
        </p:nvSpPr>
        <p:spPr>
          <a:xfrm>
            <a:off x="10766822" y="2951917"/>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DAD1E6"/>
                </a:solidFill>
                <a:latin typeface="Inconsolata Bold" pitchFamily="34" charset="0"/>
                <a:ea typeface="Inconsolata Bold" pitchFamily="34" charset="-122"/>
                <a:cs typeface="Inconsolata Bold" pitchFamily="34" charset="-120"/>
              </a:rPr>
              <a:t>Database Indexing</a:t>
            </a:r>
            <a:endParaRPr lang="en-US" sz="1700" dirty="0"/>
          </a:p>
        </p:txBody>
      </p:sp>
      <p:sp>
        <p:nvSpPr>
          <p:cNvPr id="14" name="Text 8"/>
          <p:cNvSpPr/>
          <p:nvPr/>
        </p:nvSpPr>
        <p:spPr>
          <a:xfrm>
            <a:off x="10766822" y="3322201"/>
            <a:ext cx="3156823" cy="1068705"/>
          </a:xfrm>
          <a:prstGeom prst="rect">
            <a:avLst/>
          </a:prstGeom>
          <a:noFill/>
          <a:ln/>
        </p:spPr>
        <p:txBody>
          <a:bodyPr wrap="square" lIns="0" tIns="0" rIns="0" bIns="0" rtlCol="0" anchor="t"/>
          <a:lstStyle/>
          <a:p>
            <a:pPr marL="0" indent="0" algn="l">
              <a:lnSpc>
                <a:spcPts val="2100"/>
              </a:lnSpc>
              <a:buNone/>
            </a:pPr>
            <a:r>
              <a:rPr lang="en-US" sz="1350" dirty="0">
                <a:solidFill>
                  <a:srgbClr val="DAD1E6"/>
                </a:solidFill>
                <a:latin typeface="Fira Sans" pitchFamily="34" charset="0"/>
                <a:ea typeface="Fira Sans" pitchFamily="34" charset="-122"/>
                <a:cs typeface="Fira Sans" pitchFamily="34" charset="-120"/>
              </a:rPr>
              <a:t>Modern databases employ tree-heap hybrids for maintaining B-tree indexes with efficient insertion, deletion, and range query performance</a:t>
            </a:r>
            <a:endParaRPr lang="en-US" sz="1350" dirty="0"/>
          </a:p>
        </p:txBody>
      </p:sp>
      <p:pic>
        <p:nvPicPr>
          <p:cNvPr id="15" name="Image 4" descr="preencoded.png"/>
          <p:cNvPicPr>
            <a:picLocks noChangeAspect="1"/>
          </p:cNvPicPr>
          <p:nvPr/>
        </p:nvPicPr>
        <p:blipFill>
          <a:blip r:embed="rId7"/>
          <a:stretch>
            <a:fillRect/>
          </a:stretch>
        </p:blipFill>
        <p:spPr>
          <a:xfrm>
            <a:off x="706755" y="4705469"/>
            <a:ext cx="1830824" cy="1131451"/>
          </a:xfrm>
          <a:prstGeom prst="rect">
            <a:avLst/>
          </a:prstGeom>
        </p:spPr>
      </p:pic>
      <p:sp>
        <p:nvSpPr>
          <p:cNvPr id="16" name="Text 9"/>
          <p:cNvSpPr/>
          <p:nvPr/>
        </p:nvSpPr>
        <p:spPr>
          <a:xfrm>
            <a:off x="706755" y="6033492"/>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DAD1E6"/>
                </a:solidFill>
                <a:latin typeface="Inconsolata Bold" pitchFamily="34" charset="0"/>
                <a:ea typeface="Inconsolata Bold" pitchFamily="34" charset="-122"/>
                <a:cs typeface="Inconsolata Bold" pitchFamily="34" charset="-120"/>
              </a:rPr>
              <a:t>Data Processing</a:t>
            </a:r>
            <a:endParaRPr lang="en-US" sz="1700" dirty="0"/>
          </a:p>
        </p:txBody>
      </p:sp>
      <p:sp>
        <p:nvSpPr>
          <p:cNvPr id="17" name="Text 10"/>
          <p:cNvSpPr/>
          <p:nvPr/>
        </p:nvSpPr>
        <p:spPr>
          <a:xfrm>
            <a:off x="706755" y="6403777"/>
            <a:ext cx="3156704" cy="1068705"/>
          </a:xfrm>
          <a:prstGeom prst="rect">
            <a:avLst/>
          </a:prstGeom>
          <a:noFill/>
          <a:ln/>
        </p:spPr>
        <p:txBody>
          <a:bodyPr wrap="square" lIns="0" tIns="0" rIns="0" bIns="0" rtlCol="0" anchor="t"/>
          <a:lstStyle/>
          <a:p>
            <a:pPr marL="0" indent="0" algn="l">
              <a:lnSpc>
                <a:spcPts val="2100"/>
              </a:lnSpc>
              <a:buNone/>
            </a:pPr>
            <a:r>
              <a:rPr lang="en-US" sz="1350" dirty="0">
                <a:solidFill>
                  <a:srgbClr val="DAD1E6"/>
                </a:solidFill>
                <a:latin typeface="Fira Sans" pitchFamily="34" charset="0"/>
                <a:ea typeface="Fira Sans" pitchFamily="34" charset="-122"/>
                <a:cs typeface="Fira Sans" pitchFamily="34" charset="-120"/>
              </a:rPr>
              <a:t>Stream processing systems and event-driven architectures use priority queues to manage time-sensitive data with guaranteed ordering</a:t>
            </a:r>
            <a:endParaRPr lang="en-US" sz="1350" dirty="0"/>
          </a:p>
        </p:txBody>
      </p:sp>
      <p:pic>
        <p:nvPicPr>
          <p:cNvPr id="18" name="Image 5" descr="preencoded.png"/>
          <p:cNvPicPr>
            <a:picLocks noChangeAspect="1"/>
          </p:cNvPicPr>
          <p:nvPr/>
        </p:nvPicPr>
        <p:blipFill>
          <a:blip r:embed="rId8"/>
          <a:stretch>
            <a:fillRect/>
          </a:stretch>
        </p:blipFill>
        <p:spPr>
          <a:xfrm>
            <a:off x="4060031" y="4705469"/>
            <a:ext cx="1830943" cy="1131570"/>
          </a:xfrm>
          <a:prstGeom prst="rect">
            <a:avLst/>
          </a:prstGeom>
        </p:spPr>
      </p:pic>
      <p:sp>
        <p:nvSpPr>
          <p:cNvPr id="19" name="Text 11"/>
          <p:cNvSpPr/>
          <p:nvPr/>
        </p:nvSpPr>
        <p:spPr>
          <a:xfrm>
            <a:off x="4060031" y="6033611"/>
            <a:ext cx="2208848" cy="275987"/>
          </a:xfrm>
          <a:prstGeom prst="rect">
            <a:avLst/>
          </a:prstGeom>
          <a:noFill/>
          <a:ln/>
        </p:spPr>
        <p:txBody>
          <a:bodyPr wrap="none" lIns="0" tIns="0" rIns="0" bIns="0" rtlCol="0" anchor="t"/>
          <a:lstStyle/>
          <a:p>
            <a:pPr marL="0" indent="0" algn="l">
              <a:lnSpc>
                <a:spcPts val="2150"/>
              </a:lnSpc>
              <a:buNone/>
            </a:pPr>
            <a:r>
              <a:rPr lang="en-US" sz="1700" b="1" dirty="0">
                <a:solidFill>
                  <a:srgbClr val="DAD1E6"/>
                </a:solidFill>
                <a:latin typeface="Inconsolata Bold" pitchFamily="34" charset="0"/>
                <a:ea typeface="Inconsolata Bold" pitchFamily="34" charset="-122"/>
                <a:cs typeface="Inconsolata Bold" pitchFamily="34" charset="-120"/>
              </a:rPr>
              <a:t>Event Simulation</a:t>
            </a:r>
            <a:endParaRPr lang="en-US" sz="1700" dirty="0"/>
          </a:p>
        </p:txBody>
      </p:sp>
      <p:sp>
        <p:nvSpPr>
          <p:cNvPr id="20" name="Text 12"/>
          <p:cNvSpPr/>
          <p:nvPr/>
        </p:nvSpPr>
        <p:spPr>
          <a:xfrm>
            <a:off x="4060031" y="6403896"/>
            <a:ext cx="3156823" cy="1068705"/>
          </a:xfrm>
          <a:prstGeom prst="rect">
            <a:avLst/>
          </a:prstGeom>
          <a:noFill/>
          <a:ln/>
        </p:spPr>
        <p:txBody>
          <a:bodyPr wrap="square" lIns="0" tIns="0" rIns="0" bIns="0" rtlCol="0" anchor="t"/>
          <a:lstStyle/>
          <a:p>
            <a:pPr marL="0" indent="0" algn="l">
              <a:lnSpc>
                <a:spcPts val="2100"/>
              </a:lnSpc>
              <a:buNone/>
            </a:pPr>
            <a:r>
              <a:rPr lang="en-US" sz="1350" dirty="0">
                <a:solidFill>
                  <a:srgbClr val="DAD1E6"/>
                </a:solidFill>
                <a:latin typeface="Fira Sans" pitchFamily="34" charset="0"/>
                <a:ea typeface="Fira Sans" pitchFamily="34" charset="-122"/>
                <a:cs typeface="Fira Sans" pitchFamily="34" charset="-120"/>
              </a:rPr>
              <a:t>Discrete-event simulation frameworks process future events in chronological order while respecting priority rules for event handling</a:t>
            </a:r>
            <a:endParaRPr lang="en-US" sz="1350" dirty="0"/>
          </a:p>
        </p:txBody>
      </p:sp>
      <p:pic>
        <p:nvPicPr>
          <p:cNvPr id="22" name="Picture 21">
            <a:extLst>
              <a:ext uri="{FF2B5EF4-FFF2-40B4-BE49-F238E27FC236}">
                <a16:creationId xmlns:a16="http://schemas.microsoft.com/office/drawing/2014/main" id="{B6B004C6-296F-8CEE-0A31-9480066EE01B}"/>
              </a:ext>
            </a:extLst>
          </p:cNvPr>
          <p:cNvPicPr>
            <a:picLocks noChangeAspect="1"/>
          </p:cNvPicPr>
          <p:nvPr/>
        </p:nvPicPr>
        <p:blipFill>
          <a:blip r:embed="rId9"/>
          <a:stretch>
            <a:fillRect/>
          </a:stretch>
        </p:blipFill>
        <p:spPr>
          <a:xfrm>
            <a:off x="12667976" y="7790496"/>
            <a:ext cx="1962424" cy="3429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402449" y="349925"/>
            <a:ext cx="3596164"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System Architecture &amp; Results</a:t>
            </a:r>
            <a:endParaRPr lang="en-US" sz="1950" dirty="0"/>
          </a:p>
        </p:txBody>
      </p:sp>
      <p:sp>
        <p:nvSpPr>
          <p:cNvPr id="3" name="Shape 1"/>
          <p:cNvSpPr/>
          <p:nvPr/>
        </p:nvSpPr>
        <p:spPr>
          <a:xfrm>
            <a:off x="3402449" y="759262"/>
            <a:ext cx="3887986" cy="774502"/>
          </a:xfrm>
          <a:prstGeom prst="roundRect">
            <a:avLst>
              <a:gd name="adj" fmla="val 1922"/>
            </a:avLst>
          </a:prstGeom>
          <a:solidFill>
            <a:srgbClr val="433550"/>
          </a:solidFill>
          <a:ln/>
        </p:spPr>
      </p:sp>
      <p:sp>
        <p:nvSpPr>
          <p:cNvPr id="4" name="Text 2"/>
          <p:cNvSpPr/>
          <p:nvPr/>
        </p:nvSpPr>
        <p:spPr>
          <a:xfrm>
            <a:off x="3501628" y="858441"/>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Frontend Layer</a:t>
            </a:r>
            <a:endParaRPr lang="en-US" sz="950" dirty="0"/>
          </a:p>
        </p:txBody>
      </p:sp>
      <p:sp>
        <p:nvSpPr>
          <p:cNvPr id="5" name="Text 3"/>
          <p:cNvSpPr/>
          <p:nvPr/>
        </p:nvSpPr>
        <p:spPr>
          <a:xfrm>
            <a:off x="3501628" y="1043226"/>
            <a:ext cx="3689628" cy="391358"/>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HTML/CSS for structure and styling</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JavaScript for dynamic interactions</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Responsive design for multiple devices</a:t>
            </a:r>
            <a:endParaRPr lang="en-US" sz="750" dirty="0"/>
          </a:p>
        </p:txBody>
      </p:sp>
      <p:sp>
        <p:nvSpPr>
          <p:cNvPr id="6" name="Shape 4"/>
          <p:cNvSpPr/>
          <p:nvPr/>
        </p:nvSpPr>
        <p:spPr>
          <a:xfrm>
            <a:off x="7339965" y="759262"/>
            <a:ext cx="3887986" cy="774502"/>
          </a:xfrm>
          <a:prstGeom prst="roundRect">
            <a:avLst>
              <a:gd name="adj" fmla="val 1922"/>
            </a:avLst>
          </a:prstGeom>
          <a:solidFill>
            <a:srgbClr val="433550"/>
          </a:solidFill>
          <a:ln/>
        </p:spPr>
      </p:sp>
      <p:sp>
        <p:nvSpPr>
          <p:cNvPr id="7" name="Text 5"/>
          <p:cNvSpPr/>
          <p:nvPr/>
        </p:nvSpPr>
        <p:spPr>
          <a:xfrm>
            <a:off x="7439144" y="858441"/>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Backend API</a:t>
            </a:r>
            <a:endParaRPr lang="en-US" sz="950" dirty="0"/>
          </a:p>
        </p:txBody>
      </p:sp>
      <p:sp>
        <p:nvSpPr>
          <p:cNvPr id="8" name="Text 6"/>
          <p:cNvSpPr/>
          <p:nvPr/>
        </p:nvSpPr>
        <p:spPr>
          <a:xfrm>
            <a:off x="7439144" y="1043226"/>
            <a:ext cx="3689628" cy="391358"/>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Node.js runtime environment</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Express framework for routing</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RESTful endpoints for order management</a:t>
            </a:r>
            <a:endParaRPr lang="en-US" sz="750" dirty="0"/>
          </a:p>
        </p:txBody>
      </p:sp>
      <p:sp>
        <p:nvSpPr>
          <p:cNvPr id="9" name="Shape 7"/>
          <p:cNvSpPr/>
          <p:nvPr/>
        </p:nvSpPr>
        <p:spPr>
          <a:xfrm>
            <a:off x="3402449" y="1583293"/>
            <a:ext cx="3887986" cy="774502"/>
          </a:xfrm>
          <a:prstGeom prst="roundRect">
            <a:avLst>
              <a:gd name="adj" fmla="val 1922"/>
            </a:avLst>
          </a:prstGeom>
          <a:solidFill>
            <a:srgbClr val="433550"/>
          </a:solidFill>
          <a:ln/>
        </p:spPr>
      </p:sp>
      <p:sp>
        <p:nvSpPr>
          <p:cNvPr id="10" name="Text 8"/>
          <p:cNvSpPr/>
          <p:nvPr/>
        </p:nvSpPr>
        <p:spPr>
          <a:xfrm>
            <a:off x="3501628" y="168247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Database Layer</a:t>
            </a:r>
            <a:endParaRPr lang="en-US" sz="950" dirty="0"/>
          </a:p>
        </p:txBody>
      </p:sp>
      <p:sp>
        <p:nvSpPr>
          <p:cNvPr id="11" name="Text 9"/>
          <p:cNvSpPr/>
          <p:nvPr/>
        </p:nvSpPr>
        <p:spPr>
          <a:xfrm>
            <a:off x="3501628" y="1867257"/>
            <a:ext cx="3689628" cy="391358"/>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MongoDB for document storage</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Historical trade records</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User account management</a:t>
            </a:r>
            <a:endParaRPr lang="en-US" sz="750" dirty="0"/>
          </a:p>
        </p:txBody>
      </p:sp>
      <p:sp>
        <p:nvSpPr>
          <p:cNvPr id="12" name="Shape 10"/>
          <p:cNvSpPr/>
          <p:nvPr/>
        </p:nvSpPr>
        <p:spPr>
          <a:xfrm>
            <a:off x="7339965" y="1583293"/>
            <a:ext cx="3887986" cy="774502"/>
          </a:xfrm>
          <a:prstGeom prst="roundRect">
            <a:avLst>
              <a:gd name="adj" fmla="val 1922"/>
            </a:avLst>
          </a:prstGeom>
          <a:solidFill>
            <a:srgbClr val="433550"/>
          </a:solidFill>
          <a:ln/>
        </p:spPr>
      </p:sp>
      <p:sp>
        <p:nvSpPr>
          <p:cNvPr id="13" name="Text 11"/>
          <p:cNvSpPr/>
          <p:nvPr/>
        </p:nvSpPr>
        <p:spPr>
          <a:xfrm>
            <a:off x="7439144" y="168247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Matching Engine</a:t>
            </a:r>
            <a:endParaRPr lang="en-US" sz="950" dirty="0"/>
          </a:p>
        </p:txBody>
      </p:sp>
      <p:sp>
        <p:nvSpPr>
          <p:cNvPr id="14" name="Text 12"/>
          <p:cNvSpPr/>
          <p:nvPr/>
        </p:nvSpPr>
        <p:spPr>
          <a:xfrm>
            <a:off x="7439144" y="1867257"/>
            <a:ext cx="3689628" cy="391358"/>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Treap-inspired data structures</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BST + Heap hybrid logic</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Real-time order processing</a:t>
            </a:r>
            <a:endParaRPr lang="en-US" sz="750" dirty="0"/>
          </a:p>
        </p:txBody>
      </p:sp>
      <p:sp>
        <p:nvSpPr>
          <p:cNvPr id="15" name="Text 13"/>
          <p:cNvSpPr/>
          <p:nvPr/>
        </p:nvSpPr>
        <p:spPr>
          <a:xfrm>
            <a:off x="3402449" y="2432209"/>
            <a:ext cx="1784509" cy="185976"/>
          </a:xfrm>
          <a:prstGeom prst="rect">
            <a:avLst/>
          </a:prstGeom>
          <a:noFill/>
          <a:ln/>
        </p:spPr>
        <p:txBody>
          <a:bodyPr wrap="none" lIns="0" tIns="0" rIns="0" bIns="0" rtlCol="0" anchor="t"/>
          <a:lstStyle/>
          <a:p>
            <a:pPr marL="0" indent="0" algn="l">
              <a:lnSpc>
                <a:spcPts val="1450"/>
              </a:lnSpc>
              <a:buNone/>
            </a:pPr>
            <a:r>
              <a:rPr lang="en-US" sz="1150" b="1" dirty="0">
                <a:solidFill>
                  <a:srgbClr val="F94CAF"/>
                </a:solidFill>
                <a:latin typeface="Inconsolata Bold" pitchFamily="34" charset="0"/>
                <a:ea typeface="Inconsolata Bold" pitchFamily="34" charset="-122"/>
                <a:cs typeface="Inconsolata Bold" pitchFamily="34" charset="-120"/>
              </a:rPr>
              <a:t>Order Matching Algorithm</a:t>
            </a:r>
            <a:endParaRPr lang="en-US" sz="1150" dirty="0"/>
          </a:p>
        </p:txBody>
      </p:sp>
      <p:sp>
        <p:nvSpPr>
          <p:cNvPr id="16" name="Text 14"/>
          <p:cNvSpPr/>
          <p:nvPr/>
        </p:nvSpPr>
        <p:spPr>
          <a:xfrm>
            <a:off x="3402449" y="2692598"/>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Inconsolata Light" pitchFamily="34" charset="0"/>
                <a:ea typeface="Inconsolata Light" pitchFamily="34" charset="-122"/>
                <a:cs typeface="Inconsolata Light" pitchFamily="34" charset="-120"/>
              </a:rPr>
              <a:t>01</a:t>
            </a:r>
            <a:endParaRPr lang="en-US" sz="750" dirty="0"/>
          </a:p>
        </p:txBody>
      </p:sp>
      <p:pic>
        <p:nvPicPr>
          <p:cNvPr id="17" name="Image 0" descr="preencoded.png"/>
          <p:cNvPicPr>
            <a:picLocks noChangeAspect="1"/>
          </p:cNvPicPr>
          <p:nvPr/>
        </p:nvPicPr>
        <p:blipFill>
          <a:blip r:embed="rId3"/>
          <a:stretch>
            <a:fillRect/>
          </a:stretch>
        </p:blipFill>
        <p:spPr>
          <a:xfrm>
            <a:off x="3402449" y="2845832"/>
            <a:ext cx="2575441" cy="15240"/>
          </a:xfrm>
          <a:prstGeom prst="rect">
            <a:avLst/>
          </a:prstGeom>
        </p:spPr>
      </p:pic>
      <p:sp>
        <p:nvSpPr>
          <p:cNvPr id="18" name="Text 15"/>
          <p:cNvSpPr/>
          <p:nvPr/>
        </p:nvSpPr>
        <p:spPr>
          <a:xfrm>
            <a:off x="3402449" y="292584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Get Highest Buy</a:t>
            </a:r>
            <a:endParaRPr lang="en-US" sz="950" dirty="0"/>
          </a:p>
        </p:txBody>
      </p:sp>
      <p:sp>
        <p:nvSpPr>
          <p:cNvPr id="19" name="Text 16"/>
          <p:cNvSpPr/>
          <p:nvPr/>
        </p:nvSpPr>
        <p:spPr>
          <a:xfrm>
            <a:off x="3402449" y="3110627"/>
            <a:ext cx="2575441" cy="118943"/>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Extract maximum price from buy order heap</a:t>
            </a:r>
            <a:endParaRPr lang="en-US" sz="750" dirty="0"/>
          </a:p>
        </p:txBody>
      </p:sp>
      <p:sp>
        <p:nvSpPr>
          <p:cNvPr id="20" name="Text 17"/>
          <p:cNvSpPr/>
          <p:nvPr/>
        </p:nvSpPr>
        <p:spPr>
          <a:xfrm>
            <a:off x="6027420" y="2692598"/>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Inconsolata Light" pitchFamily="34" charset="0"/>
                <a:ea typeface="Inconsolata Light" pitchFamily="34" charset="-122"/>
                <a:cs typeface="Inconsolata Light" pitchFamily="34" charset="-120"/>
              </a:rPr>
              <a:t>02</a:t>
            </a:r>
            <a:endParaRPr lang="en-US" sz="750" dirty="0"/>
          </a:p>
        </p:txBody>
      </p:sp>
      <p:pic>
        <p:nvPicPr>
          <p:cNvPr id="21" name="Image 1" descr="preencoded.png"/>
          <p:cNvPicPr>
            <a:picLocks noChangeAspect="1"/>
          </p:cNvPicPr>
          <p:nvPr/>
        </p:nvPicPr>
        <p:blipFill>
          <a:blip r:embed="rId3"/>
          <a:stretch>
            <a:fillRect/>
          </a:stretch>
        </p:blipFill>
        <p:spPr>
          <a:xfrm>
            <a:off x="6027420" y="2845832"/>
            <a:ext cx="2575441" cy="15240"/>
          </a:xfrm>
          <a:prstGeom prst="rect">
            <a:avLst/>
          </a:prstGeom>
        </p:spPr>
      </p:pic>
      <p:sp>
        <p:nvSpPr>
          <p:cNvPr id="22" name="Text 18"/>
          <p:cNvSpPr/>
          <p:nvPr/>
        </p:nvSpPr>
        <p:spPr>
          <a:xfrm>
            <a:off x="6027420" y="292584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Get Lowest Sell</a:t>
            </a:r>
            <a:endParaRPr lang="en-US" sz="950" dirty="0"/>
          </a:p>
        </p:txBody>
      </p:sp>
      <p:sp>
        <p:nvSpPr>
          <p:cNvPr id="23" name="Text 19"/>
          <p:cNvSpPr/>
          <p:nvPr/>
        </p:nvSpPr>
        <p:spPr>
          <a:xfrm>
            <a:off x="6027420" y="3110627"/>
            <a:ext cx="2575441" cy="118943"/>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Extract minimum price from sell order heap</a:t>
            </a:r>
            <a:endParaRPr lang="en-US" sz="750" dirty="0"/>
          </a:p>
        </p:txBody>
      </p:sp>
      <p:sp>
        <p:nvSpPr>
          <p:cNvPr id="24" name="Text 20"/>
          <p:cNvSpPr/>
          <p:nvPr/>
        </p:nvSpPr>
        <p:spPr>
          <a:xfrm>
            <a:off x="8652391" y="2692598"/>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Inconsolata Light" pitchFamily="34" charset="0"/>
                <a:ea typeface="Inconsolata Light" pitchFamily="34" charset="-122"/>
                <a:cs typeface="Inconsolata Light" pitchFamily="34" charset="-120"/>
              </a:rPr>
              <a:t>03</a:t>
            </a:r>
            <a:endParaRPr lang="en-US" sz="750" dirty="0"/>
          </a:p>
        </p:txBody>
      </p:sp>
      <p:pic>
        <p:nvPicPr>
          <p:cNvPr id="25" name="Image 2" descr="preencoded.png"/>
          <p:cNvPicPr>
            <a:picLocks noChangeAspect="1"/>
          </p:cNvPicPr>
          <p:nvPr/>
        </p:nvPicPr>
        <p:blipFill>
          <a:blip r:embed="rId3"/>
          <a:stretch>
            <a:fillRect/>
          </a:stretch>
        </p:blipFill>
        <p:spPr>
          <a:xfrm>
            <a:off x="8652391" y="2845832"/>
            <a:ext cx="2575560" cy="15240"/>
          </a:xfrm>
          <a:prstGeom prst="rect">
            <a:avLst/>
          </a:prstGeom>
        </p:spPr>
      </p:pic>
      <p:sp>
        <p:nvSpPr>
          <p:cNvPr id="26" name="Text 21"/>
          <p:cNvSpPr/>
          <p:nvPr/>
        </p:nvSpPr>
        <p:spPr>
          <a:xfrm>
            <a:off x="8652391" y="2925842"/>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Compare Prices</a:t>
            </a:r>
            <a:endParaRPr lang="en-US" sz="950" dirty="0"/>
          </a:p>
        </p:txBody>
      </p:sp>
      <p:sp>
        <p:nvSpPr>
          <p:cNvPr id="27" name="Text 22"/>
          <p:cNvSpPr/>
          <p:nvPr/>
        </p:nvSpPr>
        <p:spPr>
          <a:xfrm>
            <a:off x="8652391" y="3110627"/>
            <a:ext cx="2575560" cy="118943"/>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Check if buy price ≥ sell price</a:t>
            </a:r>
            <a:endParaRPr lang="en-US" sz="750" dirty="0"/>
          </a:p>
        </p:txBody>
      </p:sp>
      <p:sp>
        <p:nvSpPr>
          <p:cNvPr id="28" name="Text 23"/>
          <p:cNvSpPr/>
          <p:nvPr/>
        </p:nvSpPr>
        <p:spPr>
          <a:xfrm>
            <a:off x="3402449" y="3353514"/>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Inconsolata Light" pitchFamily="34" charset="0"/>
                <a:ea typeface="Inconsolata Light" pitchFamily="34" charset="-122"/>
                <a:cs typeface="Inconsolata Light" pitchFamily="34" charset="-120"/>
              </a:rPr>
              <a:t>04</a:t>
            </a:r>
            <a:endParaRPr lang="en-US" sz="750" dirty="0"/>
          </a:p>
        </p:txBody>
      </p:sp>
      <p:pic>
        <p:nvPicPr>
          <p:cNvPr id="29" name="Image 3" descr="preencoded.png"/>
          <p:cNvPicPr>
            <a:picLocks noChangeAspect="1"/>
          </p:cNvPicPr>
          <p:nvPr/>
        </p:nvPicPr>
        <p:blipFill>
          <a:blip r:embed="rId4"/>
          <a:stretch>
            <a:fillRect/>
          </a:stretch>
        </p:blipFill>
        <p:spPr>
          <a:xfrm>
            <a:off x="3402449" y="3496866"/>
            <a:ext cx="3887986" cy="15240"/>
          </a:xfrm>
          <a:prstGeom prst="rect">
            <a:avLst/>
          </a:prstGeom>
        </p:spPr>
      </p:pic>
      <p:sp>
        <p:nvSpPr>
          <p:cNvPr id="30" name="Text 24"/>
          <p:cNvSpPr/>
          <p:nvPr/>
        </p:nvSpPr>
        <p:spPr>
          <a:xfrm>
            <a:off x="3402449" y="358675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Execute Trade</a:t>
            </a:r>
            <a:endParaRPr lang="en-US" sz="950" dirty="0"/>
          </a:p>
        </p:txBody>
      </p:sp>
      <p:sp>
        <p:nvSpPr>
          <p:cNvPr id="31" name="Text 25"/>
          <p:cNvSpPr/>
          <p:nvPr/>
        </p:nvSpPr>
        <p:spPr>
          <a:xfrm>
            <a:off x="3402449" y="3771543"/>
            <a:ext cx="3887986" cy="118943"/>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Process transaction and update quantities</a:t>
            </a:r>
            <a:endParaRPr lang="en-US" sz="750" dirty="0"/>
          </a:p>
        </p:txBody>
      </p:sp>
      <p:sp>
        <p:nvSpPr>
          <p:cNvPr id="32" name="Text 26"/>
          <p:cNvSpPr/>
          <p:nvPr/>
        </p:nvSpPr>
        <p:spPr>
          <a:xfrm>
            <a:off x="7339965" y="3353514"/>
            <a:ext cx="99179" cy="123944"/>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Inconsolata Light" pitchFamily="34" charset="0"/>
                <a:ea typeface="Inconsolata Light" pitchFamily="34" charset="-122"/>
                <a:cs typeface="Inconsolata Light" pitchFamily="34" charset="-120"/>
              </a:rPr>
              <a:t>05</a:t>
            </a:r>
            <a:endParaRPr lang="en-US" sz="750" dirty="0"/>
          </a:p>
        </p:txBody>
      </p:sp>
      <p:pic>
        <p:nvPicPr>
          <p:cNvPr id="33" name="Image 4" descr="preencoded.png"/>
          <p:cNvPicPr>
            <a:picLocks noChangeAspect="1"/>
          </p:cNvPicPr>
          <p:nvPr/>
        </p:nvPicPr>
        <p:blipFill>
          <a:blip r:embed="rId4"/>
          <a:stretch>
            <a:fillRect/>
          </a:stretch>
        </p:blipFill>
        <p:spPr>
          <a:xfrm>
            <a:off x="7339965" y="3496866"/>
            <a:ext cx="3887986" cy="15240"/>
          </a:xfrm>
          <a:prstGeom prst="rect">
            <a:avLst/>
          </a:prstGeom>
        </p:spPr>
      </p:pic>
      <p:sp>
        <p:nvSpPr>
          <p:cNvPr id="34" name="Text 27"/>
          <p:cNvSpPr/>
          <p:nvPr/>
        </p:nvSpPr>
        <p:spPr>
          <a:xfrm>
            <a:off x="7339965" y="3586758"/>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Update Orders</a:t>
            </a:r>
            <a:endParaRPr lang="en-US" sz="950" dirty="0"/>
          </a:p>
        </p:txBody>
      </p:sp>
      <p:sp>
        <p:nvSpPr>
          <p:cNvPr id="35" name="Text 28"/>
          <p:cNvSpPr/>
          <p:nvPr/>
        </p:nvSpPr>
        <p:spPr>
          <a:xfrm>
            <a:off x="7339965" y="3771543"/>
            <a:ext cx="3887986" cy="118943"/>
          </a:xfrm>
          <a:prstGeom prst="rect">
            <a:avLst/>
          </a:prstGeom>
          <a:noFill/>
          <a:ln/>
        </p:spPr>
        <p:txBody>
          <a:bodyPr wrap="none" lIns="0" tIns="0" rIns="0" bIns="0" rtlCol="0" anchor="t"/>
          <a:lstStyle/>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Remove completed orders, maintain balance</a:t>
            </a:r>
            <a:endParaRPr lang="en-US" sz="750" dirty="0"/>
          </a:p>
        </p:txBody>
      </p:sp>
      <p:sp>
        <p:nvSpPr>
          <p:cNvPr id="36" name="Text 29"/>
          <p:cNvSpPr/>
          <p:nvPr/>
        </p:nvSpPr>
        <p:spPr>
          <a:xfrm>
            <a:off x="3402449" y="4039314"/>
            <a:ext cx="1488519" cy="185976"/>
          </a:xfrm>
          <a:prstGeom prst="rect">
            <a:avLst/>
          </a:prstGeom>
          <a:noFill/>
          <a:ln/>
        </p:spPr>
        <p:txBody>
          <a:bodyPr wrap="none" lIns="0" tIns="0" rIns="0" bIns="0" rtlCol="0" anchor="t"/>
          <a:lstStyle/>
          <a:p>
            <a:pPr marL="0" indent="0" algn="l">
              <a:lnSpc>
                <a:spcPts val="1450"/>
              </a:lnSpc>
              <a:buNone/>
            </a:pPr>
            <a:r>
              <a:rPr lang="en-US" sz="1150" b="1" dirty="0">
                <a:solidFill>
                  <a:srgbClr val="F94CAF"/>
                </a:solidFill>
                <a:latin typeface="Inconsolata Bold" pitchFamily="34" charset="0"/>
                <a:ea typeface="Inconsolata Bold" pitchFamily="34" charset="-122"/>
                <a:cs typeface="Inconsolata Bold" pitchFamily="34" charset="-120"/>
              </a:rPr>
              <a:t>Example Scenario</a:t>
            </a:r>
            <a:endParaRPr lang="en-US" sz="1150" dirty="0"/>
          </a:p>
        </p:txBody>
      </p:sp>
      <p:sp>
        <p:nvSpPr>
          <p:cNvPr id="37" name="Text 30"/>
          <p:cNvSpPr/>
          <p:nvPr/>
        </p:nvSpPr>
        <p:spPr>
          <a:xfrm>
            <a:off x="3402449" y="434923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F94CAF"/>
                </a:solidFill>
                <a:latin typeface="Inconsolata Bold" pitchFamily="34" charset="0"/>
                <a:ea typeface="Inconsolata Bold" pitchFamily="34" charset="-122"/>
                <a:cs typeface="Inconsolata Bold" pitchFamily="34" charset="-120"/>
              </a:rPr>
              <a:t>Buy Orders</a:t>
            </a:r>
            <a:endParaRPr lang="en-US" sz="950" dirty="0"/>
          </a:p>
        </p:txBody>
      </p:sp>
      <p:sp>
        <p:nvSpPr>
          <p:cNvPr id="38" name="Text 31"/>
          <p:cNvSpPr/>
          <p:nvPr/>
        </p:nvSpPr>
        <p:spPr>
          <a:xfrm>
            <a:off x="3402449" y="4553783"/>
            <a:ext cx="3791783" cy="356830"/>
          </a:xfrm>
          <a:prstGeom prst="rect">
            <a:avLst/>
          </a:prstGeom>
          <a:noFill/>
          <a:ln/>
        </p:spPr>
        <p:txBody>
          <a:bodyPr wrap="square" lIns="0" tIns="0" rIns="0" bIns="0" rtlCol="0" anchor="t"/>
          <a:lstStyle/>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120 → qty 2</a:t>
            </a:r>
            <a:endParaRPr lang="en-US" sz="750" dirty="0"/>
          </a:p>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100 → qty 5</a:t>
            </a:r>
            <a:endParaRPr lang="en-US" sz="750" dirty="0"/>
          </a:p>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90 → qty 8</a:t>
            </a:r>
            <a:endParaRPr lang="en-US" sz="750" dirty="0"/>
          </a:p>
        </p:txBody>
      </p:sp>
      <p:sp>
        <p:nvSpPr>
          <p:cNvPr id="39" name="Text 32"/>
          <p:cNvSpPr/>
          <p:nvPr/>
        </p:nvSpPr>
        <p:spPr>
          <a:xfrm>
            <a:off x="7443788" y="4349234"/>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F94CAF"/>
                </a:solidFill>
                <a:latin typeface="Inconsolata Bold" pitchFamily="34" charset="0"/>
                <a:ea typeface="Inconsolata Bold" pitchFamily="34" charset="-122"/>
                <a:cs typeface="Inconsolata Bold" pitchFamily="34" charset="-120"/>
              </a:rPr>
              <a:t>Sell Orders</a:t>
            </a:r>
            <a:endParaRPr lang="en-US" sz="950" dirty="0"/>
          </a:p>
        </p:txBody>
      </p:sp>
      <p:sp>
        <p:nvSpPr>
          <p:cNvPr id="40" name="Text 33"/>
          <p:cNvSpPr/>
          <p:nvPr/>
        </p:nvSpPr>
        <p:spPr>
          <a:xfrm>
            <a:off x="7443788" y="4553783"/>
            <a:ext cx="3791783" cy="356830"/>
          </a:xfrm>
          <a:prstGeom prst="rect">
            <a:avLst/>
          </a:prstGeom>
          <a:noFill/>
          <a:ln/>
        </p:spPr>
        <p:txBody>
          <a:bodyPr wrap="square" lIns="0" tIns="0" rIns="0" bIns="0" rtlCol="0" anchor="t"/>
          <a:lstStyle/>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80 → qty 3</a:t>
            </a:r>
            <a:endParaRPr lang="en-US" sz="750" dirty="0"/>
          </a:p>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95 → qty 4</a:t>
            </a:r>
            <a:endParaRPr lang="en-US" sz="750" dirty="0"/>
          </a:p>
          <a:p>
            <a:pPr marL="0" indent="0" algn="l">
              <a:lnSpc>
                <a:spcPts val="900"/>
              </a:lnSpc>
              <a:buNone/>
            </a:pPr>
            <a:r>
              <a:rPr lang="en-US" sz="750" dirty="0">
                <a:solidFill>
                  <a:srgbClr val="DAD1E6"/>
                </a:solidFill>
                <a:latin typeface="Fira Sans" pitchFamily="34" charset="0"/>
                <a:ea typeface="Fira Sans" pitchFamily="34" charset="-122"/>
                <a:cs typeface="Fira Sans" pitchFamily="34" charset="-120"/>
              </a:rPr>
              <a:t>110 → qty 1</a:t>
            </a:r>
            <a:endParaRPr lang="en-US" sz="750" dirty="0"/>
          </a:p>
        </p:txBody>
      </p:sp>
      <p:sp>
        <p:nvSpPr>
          <p:cNvPr id="41" name="Text 34"/>
          <p:cNvSpPr/>
          <p:nvPr/>
        </p:nvSpPr>
        <p:spPr>
          <a:xfrm>
            <a:off x="3402449" y="5010983"/>
            <a:ext cx="7825502" cy="237887"/>
          </a:xfrm>
          <a:prstGeom prst="rect">
            <a:avLst/>
          </a:prstGeom>
          <a:noFill/>
          <a:ln/>
        </p:spPr>
        <p:txBody>
          <a:bodyPr wrap="square" lIns="0" tIns="0" rIns="0" bIns="0" rtlCol="0" anchor="t"/>
          <a:lstStyle/>
          <a:p>
            <a:pPr marL="0" indent="0" algn="l">
              <a:lnSpc>
                <a:spcPts val="900"/>
              </a:lnSpc>
              <a:buNone/>
            </a:pPr>
            <a:r>
              <a:rPr lang="en-US" sz="750" b="1" dirty="0">
                <a:solidFill>
                  <a:srgbClr val="DAD1E6"/>
                </a:solidFill>
                <a:latin typeface="Fira Sans" pitchFamily="34" charset="0"/>
                <a:ea typeface="Fira Sans" pitchFamily="34" charset="-122"/>
                <a:cs typeface="Fira Sans" pitchFamily="34" charset="-120"/>
              </a:rPr>
              <a:t>Matching Result:</a:t>
            </a:r>
            <a:r>
              <a:rPr lang="en-US" sz="750" dirty="0">
                <a:solidFill>
                  <a:srgbClr val="DAD1E6"/>
                </a:solidFill>
                <a:latin typeface="Fira Sans" pitchFamily="34" charset="0"/>
                <a:ea typeface="Fira Sans" pitchFamily="34" charset="-122"/>
                <a:cs typeface="Fira Sans" pitchFamily="34" charset="-120"/>
              </a:rPr>
              <a:t> 120 matches with 80, 100 matches with 95, 90 matches with remaining orders. System always matches best available prices first, ensuring optimal execution for both buyers and sellers.</a:t>
            </a:r>
            <a:endParaRPr lang="en-US" sz="750" dirty="0"/>
          </a:p>
        </p:txBody>
      </p:sp>
      <p:sp>
        <p:nvSpPr>
          <p:cNvPr id="42" name="Text 35"/>
          <p:cNvSpPr/>
          <p:nvPr/>
        </p:nvSpPr>
        <p:spPr>
          <a:xfrm>
            <a:off x="3402449" y="5323284"/>
            <a:ext cx="2230636" cy="185976"/>
          </a:xfrm>
          <a:prstGeom prst="rect">
            <a:avLst/>
          </a:prstGeom>
          <a:noFill/>
          <a:ln/>
        </p:spPr>
        <p:txBody>
          <a:bodyPr wrap="none" lIns="0" tIns="0" rIns="0" bIns="0" rtlCol="0" anchor="t"/>
          <a:lstStyle/>
          <a:p>
            <a:pPr marL="0" indent="0" algn="l">
              <a:lnSpc>
                <a:spcPts val="1450"/>
              </a:lnSpc>
              <a:buNone/>
            </a:pPr>
            <a:r>
              <a:rPr lang="en-US" sz="1150" b="1" dirty="0">
                <a:solidFill>
                  <a:srgbClr val="F94CAF"/>
                </a:solidFill>
                <a:latin typeface="Inconsolata Bold" pitchFamily="34" charset="0"/>
                <a:ea typeface="Inconsolata Bold" pitchFamily="34" charset="-122"/>
                <a:cs typeface="Inconsolata Bold" pitchFamily="34" charset="-120"/>
              </a:rPr>
              <a:t>Features &amp; Future Improvements</a:t>
            </a:r>
            <a:endParaRPr lang="en-US" sz="1150" dirty="0"/>
          </a:p>
        </p:txBody>
      </p:sp>
      <p:sp>
        <p:nvSpPr>
          <p:cNvPr id="43" name="Shape 36"/>
          <p:cNvSpPr/>
          <p:nvPr/>
        </p:nvSpPr>
        <p:spPr>
          <a:xfrm>
            <a:off x="3402449" y="5563910"/>
            <a:ext cx="3887986" cy="1077397"/>
          </a:xfrm>
          <a:prstGeom prst="roundRect">
            <a:avLst>
              <a:gd name="adj" fmla="val 1382"/>
            </a:avLst>
          </a:prstGeom>
          <a:solidFill>
            <a:srgbClr val="241631"/>
          </a:solidFill>
          <a:ln w="15240">
            <a:solidFill>
              <a:srgbClr val="5C4E69"/>
            </a:solidFill>
            <a:prstDash val="solid"/>
          </a:ln>
        </p:spPr>
      </p:sp>
      <p:sp>
        <p:nvSpPr>
          <p:cNvPr id="44" name="Text 37"/>
          <p:cNvSpPr/>
          <p:nvPr/>
        </p:nvSpPr>
        <p:spPr>
          <a:xfrm>
            <a:off x="3516868" y="5698093"/>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Current Features</a:t>
            </a:r>
            <a:endParaRPr lang="en-US" sz="950" dirty="0"/>
          </a:p>
        </p:txBody>
      </p:sp>
      <p:sp>
        <p:nvSpPr>
          <p:cNvPr id="45" name="Text 38"/>
          <p:cNvSpPr/>
          <p:nvPr/>
        </p:nvSpPr>
        <p:spPr>
          <a:xfrm>
            <a:off x="3516868" y="5882878"/>
            <a:ext cx="3659148" cy="663773"/>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Efficient order matching</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Multi-stock support</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API-based architecture</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Real-time processing</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Historical database</a:t>
            </a:r>
            <a:endParaRPr lang="en-US" sz="750" dirty="0"/>
          </a:p>
        </p:txBody>
      </p:sp>
      <p:sp>
        <p:nvSpPr>
          <p:cNvPr id="46" name="Shape 39"/>
          <p:cNvSpPr/>
          <p:nvPr/>
        </p:nvSpPr>
        <p:spPr>
          <a:xfrm>
            <a:off x="7339965" y="5563910"/>
            <a:ext cx="3887986" cy="1077397"/>
          </a:xfrm>
          <a:prstGeom prst="roundRect">
            <a:avLst>
              <a:gd name="adj" fmla="val 1382"/>
            </a:avLst>
          </a:prstGeom>
          <a:solidFill>
            <a:srgbClr val="241631"/>
          </a:solidFill>
          <a:ln w="15240">
            <a:solidFill>
              <a:srgbClr val="5C4E69"/>
            </a:solidFill>
            <a:prstDash val="solid"/>
          </a:ln>
        </p:spPr>
      </p:sp>
      <p:sp>
        <p:nvSpPr>
          <p:cNvPr id="47" name="Text 40"/>
          <p:cNvSpPr/>
          <p:nvPr/>
        </p:nvSpPr>
        <p:spPr>
          <a:xfrm>
            <a:off x="7454384" y="5698093"/>
            <a:ext cx="1240393" cy="155019"/>
          </a:xfrm>
          <a:prstGeom prst="rect">
            <a:avLst/>
          </a:prstGeom>
          <a:noFill/>
          <a:ln/>
        </p:spPr>
        <p:txBody>
          <a:bodyPr wrap="none" lIns="0" tIns="0" rIns="0" bIns="0" rtlCol="0" anchor="t"/>
          <a:lstStyle/>
          <a:p>
            <a:pPr marL="0" indent="0" algn="l">
              <a:lnSpc>
                <a:spcPts val="1200"/>
              </a:lnSpc>
              <a:buNone/>
            </a:pPr>
            <a:r>
              <a:rPr lang="en-US" sz="950" b="1" dirty="0">
                <a:solidFill>
                  <a:srgbClr val="DAD1E6"/>
                </a:solidFill>
                <a:latin typeface="Inconsolata Bold" pitchFamily="34" charset="0"/>
                <a:ea typeface="Inconsolata Bold" pitchFamily="34" charset="-122"/>
                <a:cs typeface="Inconsolata Bold" pitchFamily="34" charset="-120"/>
              </a:rPr>
              <a:t>Future Enhancements</a:t>
            </a:r>
            <a:endParaRPr lang="en-US" sz="950" dirty="0"/>
          </a:p>
        </p:txBody>
      </p:sp>
      <p:sp>
        <p:nvSpPr>
          <p:cNvPr id="48" name="Text 41"/>
          <p:cNvSpPr/>
          <p:nvPr/>
        </p:nvSpPr>
        <p:spPr>
          <a:xfrm>
            <a:off x="7454384" y="5882878"/>
            <a:ext cx="3659148" cy="663773"/>
          </a:xfrm>
          <a:prstGeom prst="rect">
            <a:avLst/>
          </a:prstGeom>
          <a:noFill/>
          <a:ln/>
        </p:spPr>
        <p:txBody>
          <a:bodyPr wrap="square" lIns="0" tIns="0" rIns="0" bIns="0" rtlCol="0" anchor="t"/>
          <a:lstStyle/>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Real-time market data integration</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WebSocket live updates</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Portfolio tracking</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Trading dashboards</a:t>
            </a:r>
            <a:endParaRPr lang="en-US" sz="750" dirty="0"/>
          </a:p>
          <a:p>
            <a:pPr marL="342900" indent="-342900" algn="l">
              <a:lnSpc>
                <a:spcPts val="900"/>
              </a:lnSpc>
              <a:buSzPct val="100000"/>
              <a:buChar char="•"/>
            </a:pPr>
            <a:r>
              <a:rPr lang="en-US" sz="750" dirty="0">
                <a:solidFill>
                  <a:srgbClr val="DAD1E6"/>
                </a:solidFill>
                <a:latin typeface="Fira Sans" pitchFamily="34" charset="0"/>
                <a:ea typeface="Fira Sans" pitchFamily="34" charset="-122"/>
                <a:cs typeface="Fira Sans" pitchFamily="34" charset="-120"/>
              </a:rPr>
              <a:t>AI-based analysis</a:t>
            </a:r>
            <a:endParaRPr lang="en-US" sz="750" dirty="0"/>
          </a:p>
        </p:txBody>
      </p:sp>
      <p:sp>
        <p:nvSpPr>
          <p:cNvPr id="49" name="Text 42"/>
          <p:cNvSpPr/>
          <p:nvPr/>
        </p:nvSpPr>
        <p:spPr>
          <a:xfrm>
            <a:off x="3551277" y="6772513"/>
            <a:ext cx="7676674" cy="356830"/>
          </a:xfrm>
          <a:prstGeom prst="rect">
            <a:avLst/>
          </a:prstGeom>
          <a:noFill/>
          <a:ln/>
        </p:spPr>
        <p:txBody>
          <a:bodyPr wrap="square" lIns="0" tIns="0" rIns="0" bIns="0" rtlCol="0" anchor="t"/>
          <a:lstStyle/>
          <a:p>
            <a:pPr marL="0" indent="0" algn="l">
              <a:lnSpc>
                <a:spcPts val="900"/>
              </a:lnSpc>
              <a:buNone/>
            </a:pPr>
            <a:r>
              <a:rPr lang="en-US" sz="750" b="1" dirty="0">
                <a:solidFill>
                  <a:srgbClr val="DAD1E6"/>
                </a:solidFill>
                <a:latin typeface="Fira Sans" pitchFamily="34" charset="0"/>
                <a:ea typeface="Fira Sans" pitchFamily="34" charset="-122"/>
                <a:cs typeface="Fira Sans" pitchFamily="34" charset="-120"/>
              </a:rPr>
              <a:t>Conclusion:</a:t>
            </a:r>
            <a:r>
              <a:rPr lang="en-US" sz="750" dirty="0">
                <a:solidFill>
                  <a:srgbClr val="DAD1E6"/>
                </a:solidFill>
                <a:latin typeface="Fira Sans" pitchFamily="34" charset="0"/>
                <a:ea typeface="Fira Sans" pitchFamily="34" charset="-122"/>
                <a:cs typeface="Fira Sans" pitchFamily="34" charset="-120"/>
              </a:rPr>
              <a:t> This project demonstrates how advanced data structures—Treaps, BSTs, and Heaps—combine to design an efficient transaction processing system. The implementation successfully simulates core functionality of a real trading engine, processing orders with O(log n) expected time complexity while maintaining price-time priority.</a:t>
            </a:r>
            <a:endParaRPr lang="en-US" sz="750" dirty="0"/>
          </a:p>
        </p:txBody>
      </p:sp>
      <p:sp>
        <p:nvSpPr>
          <p:cNvPr id="50" name="Shape 43"/>
          <p:cNvSpPr/>
          <p:nvPr/>
        </p:nvSpPr>
        <p:spPr>
          <a:xfrm>
            <a:off x="3402449" y="6697027"/>
            <a:ext cx="15240" cy="468273"/>
          </a:xfrm>
          <a:prstGeom prst="rect">
            <a:avLst/>
          </a:prstGeom>
          <a:solidFill>
            <a:srgbClr val="F94CAF"/>
          </a:solidFill>
          <a:ln/>
        </p:spPr>
      </p:sp>
      <p:sp>
        <p:nvSpPr>
          <p:cNvPr id="51" name="Text 44"/>
          <p:cNvSpPr/>
          <p:nvPr/>
        </p:nvSpPr>
        <p:spPr>
          <a:xfrm>
            <a:off x="3402449" y="7259479"/>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Thank You</a:t>
            </a:r>
            <a:endParaRPr lang="en-US" sz="3900" dirty="0"/>
          </a:p>
        </p:txBody>
      </p:sp>
      <p:pic>
        <p:nvPicPr>
          <p:cNvPr id="53" name="Picture 52">
            <a:extLst>
              <a:ext uri="{FF2B5EF4-FFF2-40B4-BE49-F238E27FC236}">
                <a16:creationId xmlns:a16="http://schemas.microsoft.com/office/drawing/2014/main" id="{F32B226C-D086-DB74-505A-C1770D35F091}"/>
              </a:ext>
            </a:extLst>
          </p:cNvPr>
          <p:cNvPicPr>
            <a:picLocks noChangeAspect="1"/>
          </p:cNvPicPr>
          <p:nvPr/>
        </p:nvPicPr>
        <p:blipFill>
          <a:blip r:embed="rId5"/>
          <a:stretch>
            <a:fillRect/>
          </a:stretch>
        </p:blipFill>
        <p:spPr>
          <a:xfrm>
            <a:off x="12456007" y="7774890"/>
            <a:ext cx="2051729" cy="3585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1338</Words>
  <Application>Microsoft Office PowerPoint</Application>
  <PresentationFormat>Custom</PresentationFormat>
  <Paragraphs>157</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Inconsolata Light</vt:lpstr>
      <vt:lpstr>Inconsolata Bold</vt:lpstr>
      <vt:lpstr>Fira Sans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niranjana girish</dc:creator>
  <cp:lastModifiedBy>niranjana girish</cp:lastModifiedBy>
  <cp:revision>2</cp:revision>
  <dcterms:created xsi:type="dcterms:W3CDTF">2026-03-10T09:46:52Z</dcterms:created>
  <dcterms:modified xsi:type="dcterms:W3CDTF">2026-03-10T10:21:46Z</dcterms:modified>
</cp:coreProperties>
</file>